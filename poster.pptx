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Lst>
  <p:sldSz cx="30275213" cy="21383625"/>
  <p:notesSz cx="6858000" cy="9144000"/>
  <p:defaultTextStyle>
    <a:defPPr>
      <a:defRPr lang="en-US"/>
    </a:defPPr>
    <a:lvl1pPr marL="0" algn="l" defTabSz="2479578" rtl="0" eaLnBrk="1" latinLnBrk="0" hangingPunct="1">
      <a:defRPr sz="4881" kern="1200">
        <a:solidFill>
          <a:schemeClr val="tx1"/>
        </a:solidFill>
        <a:latin typeface="+mn-lt"/>
        <a:ea typeface="+mn-ea"/>
        <a:cs typeface="+mn-cs"/>
      </a:defRPr>
    </a:lvl1pPr>
    <a:lvl2pPr marL="1239789" algn="l" defTabSz="2479578" rtl="0" eaLnBrk="1" latinLnBrk="0" hangingPunct="1">
      <a:defRPr sz="4881" kern="1200">
        <a:solidFill>
          <a:schemeClr val="tx1"/>
        </a:solidFill>
        <a:latin typeface="+mn-lt"/>
        <a:ea typeface="+mn-ea"/>
        <a:cs typeface="+mn-cs"/>
      </a:defRPr>
    </a:lvl2pPr>
    <a:lvl3pPr marL="2479578" algn="l" defTabSz="2479578" rtl="0" eaLnBrk="1" latinLnBrk="0" hangingPunct="1">
      <a:defRPr sz="4881" kern="1200">
        <a:solidFill>
          <a:schemeClr val="tx1"/>
        </a:solidFill>
        <a:latin typeface="+mn-lt"/>
        <a:ea typeface="+mn-ea"/>
        <a:cs typeface="+mn-cs"/>
      </a:defRPr>
    </a:lvl3pPr>
    <a:lvl4pPr marL="3719368" algn="l" defTabSz="2479578" rtl="0" eaLnBrk="1" latinLnBrk="0" hangingPunct="1">
      <a:defRPr sz="4881" kern="1200">
        <a:solidFill>
          <a:schemeClr val="tx1"/>
        </a:solidFill>
        <a:latin typeface="+mn-lt"/>
        <a:ea typeface="+mn-ea"/>
        <a:cs typeface="+mn-cs"/>
      </a:defRPr>
    </a:lvl4pPr>
    <a:lvl5pPr marL="4959157" algn="l" defTabSz="2479578" rtl="0" eaLnBrk="1" latinLnBrk="0" hangingPunct="1">
      <a:defRPr sz="4881" kern="1200">
        <a:solidFill>
          <a:schemeClr val="tx1"/>
        </a:solidFill>
        <a:latin typeface="+mn-lt"/>
        <a:ea typeface="+mn-ea"/>
        <a:cs typeface="+mn-cs"/>
      </a:defRPr>
    </a:lvl5pPr>
    <a:lvl6pPr marL="6198946" algn="l" defTabSz="2479578" rtl="0" eaLnBrk="1" latinLnBrk="0" hangingPunct="1">
      <a:defRPr sz="4881" kern="1200">
        <a:solidFill>
          <a:schemeClr val="tx1"/>
        </a:solidFill>
        <a:latin typeface="+mn-lt"/>
        <a:ea typeface="+mn-ea"/>
        <a:cs typeface="+mn-cs"/>
      </a:defRPr>
    </a:lvl6pPr>
    <a:lvl7pPr marL="7438735" algn="l" defTabSz="2479578" rtl="0" eaLnBrk="1" latinLnBrk="0" hangingPunct="1">
      <a:defRPr sz="4881" kern="1200">
        <a:solidFill>
          <a:schemeClr val="tx1"/>
        </a:solidFill>
        <a:latin typeface="+mn-lt"/>
        <a:ea typeface="+mn-ea"/>
        <a:cs typeface="+mn-cs"/>
      </a:defRPr>
    </a:lvl7pPr>
    <a:lvl8pPr marL="8678525" algn="l" defTabSz="2479578" rtl="0" eaLnBrk="1" latinLnBrk="0" hangingPunct="1">
      <a:defRPr sz="4881" kern="1200">
        <a:solidFill>
          <a:schemeClr val="tx1"/>
        </a:solidFill>
        <a:latin typeface="+mn-lt"/>
        <a:ea typeface="+mn-ea"/>
        <a:cs typeface="+mn-cs"/>
      </a:defRPr>
    </a:lvl8pPr>
    <a:lvl9pPr marL="9918314" algn="l" defTabSz="2479578" rtl="0" eaLnBrk="1" latinLnBrk="0" hangingPunct="1">
      <a:defRPr sz="488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95" userDrawn="1">
          <p15:clr>
            <a:srgbClr val="A4A3A4"/>
          </p15:clr>
        </p15:guide>
        <p15:guide id="2" pos="282" userDrawn="1">
          <p15:clr>
            <a:srgbClr val="A4A3A4"/>
          </p15:clr>
        </p15:guide>
        <p15:guide id="3" pos="9626" userDrawn="1">
          <p15:clr>
            <a:srgbClr val="A4A3A4"/>
          </p15:clr>
        </p15:guide>
        <p15:guide id="4" pos="18789" userDrawn="1">
          <p15:clr>
            <a:srgbClr val="A4A3A4"/>
          </p15:clr>
        </p15:guide>
        <p15:guide id="5" orient="horz" pos="13176" userDrawn="1">
          <p15:clr>
            <a:srgbClr val="A4A3A4"/>
          </p15:clr>
        </p15:guide>
        <p15:guide id="6" orient="horz" pos="780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6622" autoAdjust="0"/>
  </p:normalViewPr>
  <p:slideViewPr>
    <p:cSldViewPr snapToGrid="0" showGuides="1">
      <p:cViewPr varScale="1">
        <p:scale>
          <a:sx n="38" d="100"/>
          <a:sy n="38" d="100"/>
        </p:scale>
        <p:origin x="883" y="144"/>
      </p:cViewPr>
      <p:guideLst>
        <p:guide orient="horz" pos="1995"/>
        <p:guide pos="282"/>
        <p:guide pos="9626"/>
        <p:guide pos="18789"/>
        <p:guide orient="horz" pos="13176"/>
        <p:guide orient="horz" pos="780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ableStyles" Target="tableStyles.xml"/><Relationship Id="rId5" Type="http://schemas.openxmlformats.org/officeDocument/2006/relationships/theme" Target="theme/theme1.xml"/><Relationship Id="rId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tx>
            <c:strRef>
              <c:f>Sheet1!$B$1</c:f>
              <c:strCache>
                <c:ptCount val="1"/>
                <c:pt idx="0">
                  <c:v>G(n+1)</c:v>
                </c:pt>
              </c:strCache>
            </c:strRef>
          </c:tx>
          <c:spPr>
            <a:ln w="31750" cap="rnd">
              <a:solidFill>
                <a:schemeClr val="accent1"/>
              </a:solidFill>
              <a:round/>
            </a:ln>
            <a:effectLst/>
          </c:spPr>
          <c:marker>
            <c:symbol val="circle"/>
            <c:size val="5"/>
            <c:spPr>
              <a:solidFill>
                <a:schemeClr val="accent1"/>
              </a:solidFill>
              <a:ln w="76200">
                <a:solidFill>
                  <a:schemeClr val="accent1"/>
                </a:solidFill>
              </a:ln>
              <a:effectLst/>
            </c:spPr>
          </c:marker>
          <c:xVal>
            <c:numRef>
              <c:f>Sheet1!$A$2:$A$8</c:f>
              <c:numCache>
                <c:formatCode>General</c:formatCode>
                <c:ptCount val="7"/>
                <c:pt idx="0">
                  <c:v>-0.3</c:v>
                </c:pt>
                <c:pt idx="1">
                  <c:v>-0.2</c:v>
                </c:pt>
                <c:pt idx="2">
                  <c:v>-0.1</c:v>
                </c:pt>
                <c:pt idx="3">
                  <c:v>0</c:v>
                </c:pt>
                <c:pt idx="4">
                  <c:v>0.1</c:v>
                </c:pt>
                <c:pt idx="5">
                  <c:v>0.2</c:v>
                </c:pt>
                <c:pt idx="6">
                  <c:v>0.3</c:v>
                </c:pt>
              </c:numCache>
            </c:numRef>
          </c:xVal>
          <c:yVal>
            <c:numRef>
              <c:f>Sheet1!$B$2:$B$8</c:f>
              <c:numCache>
                <c:formatCode>General</c:formatCode>
                <c:ptCount val="7"/>
                <c:pt idx="0">
                  <c:v>-0.51300000000000001</c:v>
                </c:pt>
                <c:pt idx="1">
                  <c:v>-0.41299999999999998</c:v>
                </c:pt>
                <c:pt idx="2">
                  <c:v>-0.313</c:v>
                </c:pt>
                <c:pt idx="3">
                  <c:v>-0.21299999999999999</c:v>
                </c:pt>
                <c:pt idx="4">
                  <c:v>-0.113</c:v>
                </c:pt>
                <c:pt idx="5">
                  <c:v>-1.2999999999999999E-2</c:v>
                </c:pt>
                <c:pt idx="6">
                  <c:v>8.6999999999999994E-2</c:v>
                </c:pt>
              </c:numCache>
            </c:numRef>
          </c:yVal>
          <c:smooth val="0"/>
          <c:extLst>
            <c:ext xmlns:c16="http://schemas.microsoft.com/office/drawing/2014/chart" uri="{C3380CC4-5D6E-409C-BE32-E72D297353CC}">
              <c16:uniqueId val="{00000000-46B8-4371-BED3-C291DDF569D8}"/>
            </c:ext>
          </c:extLst>
        </c:ser>
        <c:ser>
          <c:idx val="1"/>
          <c:order val="1"/>
          <c:tx>
            <c:v>Ahead/Marginal Boundary</c:v>
          </c:tx>
          <c:spPr>
            <a:ln w="19050" cap="rnd">
              <a:solidFill>
                <a:schemeClr val="accent6"/>
              </a:solidFill>
              <a:prstDash val="sysDash"/>
              <a:round/>
            </a:ln>
            <a:effectLst/>
          </c:spPr>
          <c:marker>
            <c:symbol val="circle"/>
            <c:size val="5"/>
            <c:spPr>
              <a:noFill/>
              <a:ln w="9525">
                <a:noFill/>
              </a:ln>
              <a:effectLst/>
            </c:spPr>
          </c:marker>
          <c:xVal>
            <c:numRef>
              <c:f>Sheet1!$D$2:$D$3</c:f>
              <c:numCache>
                <c:formatCode>General</c:formatCode>
                <c:ptCount val="2"/>
                <c:pt idx="0">
                  <c:v>-0.3</c:v>
                </c:pt>
                <c:pt idx="1">
                  <c:v>0.3</c:v>
                </c:pt>
              </c:numCache>
            </c:numRef>
          </c:xVal>
          <c:yVal>
            <c:numRef>
              <c:f>Sheet1!$E$2:$E$3</c:f>
              <c:numCache>
                <c:formatCode>General</c:formatCode>
                <c:ptCount val="2"/>
                <c:pt idx="0">
                  <c:v>-0.25</c:v>
                </c:pt>
                <c:pt idx="1">
                  <c:v>-0.25</c:v>
                </c:pt>
              </c:numCache>
            </c:numRef>
          </c:yVal>
          <c:smooth val="0"/>
          <c:extLst>
            <c:ext xmlns:c16="http://schemas.microsoft.com/office/drawing/2014/chart" uri="{C3380CC4-5D6E-409C-BE32-E72D297353CC}">
              <c16:uniqueId val="{00000000-6CBF-4464-9B9F-B943670A3293}"/>
            </c:ext>
          </c:extLst>
        </c:ser>
        <c:ser>
          <c:idx val="2"/>
          <c:order val="2"/>
          <c:tx>
            <c:v>Behind/Marginal Boundary</c:v>
          </c:tx>
          <c:spPr>
            <a:ln w="19050" cap="rnd">
              <a:solidFill>
                <a:srgbClr val="C00000"/>
              </a:solidFill>
              <a:prstDash val="sysDash"/>
              <a:round/>
            </a:ln>
            <a:effectLst/>
          </c:spPr>
          <c:marker>
            <c:symbol val="circle"/>
            <c:size val="5"/>
            <c:spPr>
              <a:noFill/>
              <a:ln w="9525">
                <a:noFill/>
              </a:ln>
              <a:effectLst/>
            </c:spPr>
          </c:marker>
          <c:xVal>
            <c:numRef>
              <c:f>Sheet1!$G$2:$G$3</c:f>
              <c:numCache>
                <c:formatCode>General</c:formatCode>
                <c:ptCount val="2"/>
                <c:pt idx="0">
                  <c:v>-0.3</c:v>
                </c:pt>
                <c:pt idx="1">
                  <c:v>0.3</c:v>
                </c:pt>
              </c:numCache>
            </c:numRef>
          </c:xVal>
          <c:yVal>
            <c:numRef>
              <c:f>Sheet1!$H$2:$H$3</c:f>
              <c:numCache>
                <c:formatCode>General</c:formatCode>
                <c:ptCount val="2"/>
                <c:pt idx="0">
                  <c:v>0.25</c:v>
                </c:pt>
                <c:pt idx="1">
                  <c:v>0.25</c:v>
                </c:pt>
              </c:numCache>
            </c:numRef>
          </c:yVal>
          <c:smooth val="0"/>
          <c:extLst>
            <c:ext xmlns:c16="http://schemas.microsoft.com/office/drawing/2014/chart" uri="{C3380CC4-5D6E-409C-BE32-E72D297353CC}">
              <c16:uniqueId val="{00000001-6CBF-4464-9B9F-B943670A3293}"/>
            </c:ext>
          </c:extLst>
        </c:ser>
        <c:dLbls>
          <c:showLegendKey val="0"/>
          <c:showVal val="0"/>
          <c:showCatName val="0"/>
          <c:showSerName val="0"/>
          <c:showPercent val="0"/>
          <c:showBubbleSize val="0"/>
        </c:dLbls>
        <c:axId val="2085457872"/>
        <c:axId val="1358554928"/>
      </c:scatterChart>
      <c:valAx>
        <c:axId val="2085457872"/>
        <c:scaling>
          <c:orientation val="minMax"/>
          <c:max val="0.30000000000000004"/>
          <c:min val="-0.30000000000000004"/>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sz="1400" b="0" i="0" u="none" strike="noStrike" dirty="0">
                    <a:solidFill>
                      <a:srgbClr val="000000"/>
                    </a:solidFill>
                    <a:effectLst/>
                    <a:latin typeface="Aptos Narrow" panose="020B0004020202020204" pitchFamily="34" charset="0"/>
                  </a:rPr>
                  <a:t>Hard Compound Pace Offset </a:t>
                </a:r>
                <a:r>
                  <a:rPr lang="en-GB" sz="1400" b="0" i="1" u="none" strike="noStrike" dirty="0">
                    <a:solidFill>
                      <a:srgbClr val="000000"/>
                    </a:solidFill>
                    <a:effectLst/>
                    <a:latin typeface="Aptos Narrow" panose="020B0004020202020204" pitchFamily="34" charset="0"/>
                  </a:rPr>
                  <a:t>C</a:t>
                </a:r>
                <a:r>
                  <a:rPr lang="en-GB" sz="1400" b="0" i="1" u="none" strike="noStrike" baseline="-25000" dirty="0">
                    <a:solidFill>
                      <a:srgbClr val="000000"/>
                    </a:solidFill>
                    <a:effectLst/>
                    <a:latin typeface="Aptos Narrow" panose="020B0004020202020204" pitchFamily="34" charset="0"/>
                  </a:rPr>
                  <a:t>H</a:t>
                </a:r>
                <a:r>
                  <a:rPr lang="en-GB" sz="1400" b="0" i="0" u="none" strike="noStrike" dirty="0">
                    <a:solidFill>
                      <a:srgbClr val="000000"/>
                    </a:solidFill>
                    <a:effectLst/>
                    <a:latin typeface="Aptos Narrow" panose="020B0004020202020204" pitchFamily="34" charset="0"/>
                  </a:rPr>
                  <a:t> (s/lap)</a:t>
                </a:r>
                <a:endParaRPr lang="en-GB" dirty="0"/>
              </a:p>
            </c:rich>
          </c:tx>
          <c:layout>
            <c:manualLayout>
              <c:xMode val="edge"/>
              <c:yMode val="edge"/>
              <c:x val="0.36504791690688959"/>
              <c:y val="0.94493872590156325"/>
            </c:manualLayout>
          </c:layout>
          <c:overlay val="0"/>
          <c:spPr>
            <a:noFill/>
            <a:ln>
              <a:noFill/>
            </a:ln>
            <a:effectLst/>
          </c:spPr>
          <c:txPr>
            <a:bodyPr rot="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1358554928"/>
        <c:crosses val="autoZero"/>
        <c:crossBetween val="midCat"/>
      </c:valAx>
      <c:valAx>
        <c:axId val="1358554928"/>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r>
                  <a:rPr lang="en-GB" dirty="0"/>
                  <a:t>Predicted</a:t>
                </a:r>
                <a:r>
                  <a:rPr lang="en-GB" baseline="0" dirty="0"/>
                  <a:t> gap at </a:t>
                </a:r>
                <a:r>
                  <a:rPr lang="en-GB" i="1" baseline="0" dirty="0" err="1"/>
                  <a:t>n+o</a:t>
                </a:r>
                <a:r>
                  <a:rPr lang="en-GB" i="1" baseline="0" dirty="0"/>
                  <a:t> (s)</a:t>
                </a:r>
                <a:endParaRPr lang="en-GB" i="1" dirty="0"/>
              </a:p>
            </c:rich>
          </c:tx>
          <c:layout>
            <c:manualLayout>
              <c:xMode val="edge"/>
              <c:yMode val="edge"/>
              <c:x val="0"/>
              <c:y val="0.42056319060693148"/>
            </c:manualLayout>
          </c:layout>
          <c:overlay val="0"/>
          <c:spPr>
            <a:noFill/>
            <a:ln>
              <a:noFill/>
            </a:ln>
            <a:effectLst/>
          </c:spPr>
          <c:txPr>
            <a:bodyPr rot="-5400000" spcFirstLastPara="1" vertOverflow="ellipsis" vert="horz" wrap="square" anchor="ctr" anchorCtr="1"/>
            <a:lstStyle/>
            <a:p>
              <a:pPr>
                <a:defRPr sz="1330" b="0" i="0" u="none" strike="noStrike" kern="1200" baseline="0">
                  <a:solidFill>
                    <a:schemeClr val="tx1">
                      <a:lumMod val="65000"/>
                      <a:lumOff val="35000"/>
                    </a:schemeClr>
                  </a:solidFill>
                  <a:latin typeface="+mn-lt"/>
                  <a:ea typeface="+mn-ea"/>
                  <a:cs typeface="+mn-cs"/>
                </a:defRPr>
              </a:pPr>
              <a:endParaRPr lang="en-GB"/>
            </a:p>
          </c:txPr>
        </c:title>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crossAx val="2085457872"/>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solidFill>
      <a:schemeClr val="bg1"/>
    </a:solidFill>
    <a:ln>
      <a:noFill/>
    </a:ln>
    <a:effectLst/>
  </c:spPr>
  <c:txPr>
    <a:bodyPr/>
    <a:lstStyle/>
    <a:p>
      <a:pPr>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0.22112</cdr:x>
      <cdr:y>0.78889</cdr:y>
    </cdr:from>
    <cdr:to>
      <cdr:x>0.41657</cdr:x>
      <cdr:y>0.90652</cdr:y>
    </cdr:to>
    <cdr:sp macro="" textlink="">
      <cdr:nvSpPr>
        <cdr:cNvPr id="2" name="TextBox 1">
          <a:extLst xmlns:a="http://schemas.openxmlformats.org/drawingml/2006/main">
            <a:ext uri="{FF2B5EF4-FFF2-40B4-BE49-F238E27FC236}">
              <a16:creationId xmlns:a16="http://schemas.microsoft.com/office/drawing/2014/main" id="{4B28B69A-44B6-6056-C3EC-3B8CB8EF230A}"/>
            </a:ext>
          </a:extLst>
        </cdr:cNvPr>
        <cdr:cNvSpPr txBox="1"/>
      </cdr:nvSpPr>
      <cdr:spPr>
        <a:xfrm xmlns:a="http://schemas.openxmlformats.org/drawingml/2006/main">
          <a:off x="1988648" y="4747317"/>
          <a:ext cx="1757680" cy="70788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GB" sz="1100" kern="1200" dirty="0"/>
        </a:p>
      </cdr:txBody>
    </cdr:sp>
  </cdr:relSizeAnchor>
  <cdr:relSizeAnchor xmlns:cdr="http://schemas.openxmlformats.org/drawingml/2006/chartDrawing">
    <cdr:from>
      <cdr:x>0.20528</cdr:x>
      <cdr:y>0.75492</cdr:y>
    </cdr:from>
    <cdr:to>
      <cdr:x>0.44039</cdr:x>
      <cdr:y>0.91402</cdr:y>
    </cdr:to>
    <cdr:sp macro="" textlink="">
      <cdr:nvSpPr>
        <cdr:cNvPr id="3" name="TextBox 2">
          <a:extLst xmlns:a="http://schemas.openxmlformats.org/drawingml/2006/main">
            <a:ext uri="{FF2B5EF4-FFF2-40B4-BE49-F238E27FC236}">
              <a16:creationId xmlns:a16="http://schemas.microsoft.com/office/drawing/2014/main" id="{C60E74EB-7677-74E3-0E0E-0A2893C753C8}"/>
            </a:ext>
          </a:extLst>
        </cdr:cNvPr>
        <cdr:cNvSpPr txBox="1"/>
      </cdr:nvSpPr>
      <cdr:spPr>
        <a:xfrm xmlns:a="http://schemas.openxmlformats.org/drawingml/2006/main">
          <a:off x="1787374" y="4542872"/>
          <a:ext cx="2047158" cy="957414"/>
        </a:xfrm>
        <a:prstGeom xmlns:a="http://schemas.openxmlformats.org/drawingml/2006/main" prst="rect">
          <a:avLst/>
        </a:prstGeom>
        <a:solidFill xmlns:a="http://schemas.openxmlformats.org/drawingml/2006/main">
          <a:schemeClr val="accent1">
            <a:alpha val="25000"/>
          </a:schemeClr>
        </a:solidFill>
        <a:ln xmlns:a="http://schemas.openxmlformats.org/drawingml/2006/main">
          <a:noFill/>
        </a:ln>
      </cdr:spPr>
      <cdr:txBody>
        <a:bodyPr xmlns:a="http://schemas.openxmlformats.org/drawingml/2006/main" vertOverflow="clip" wrap="square" rtlCol="0"/>
        <a:lstStyle xmlns:a="http://schemas.openxmlformats.org/drawingml/2006/main"/>
        <a:p xmlns:a="http://schemas.openxmlformats.org/drawingml/2006/main">
          <a:r>
            <a:rPr lang="en-GB" sz="1400" b="1" dirty="0"/>
            <a:t>Historic baseline</a:t>
          </a:r>
          <a:br>
            <a:rPr lang="en-GB" sz="1400" dirty="0"/>
          </a:br>
          <a:r>
            <a:rPr lang="en-GB" sz="1400" b="0" i="0">
              <a:latin typeface="Cambria Math" panose="02040503050406030204" pitchFamily="18" charset="0"/>
            </a:rPr>
            <a:t>𝐶_𝐻</a:t>
          </a:r>
          <a:r>
            <a:rPr lang="en-GB" sz="1400" dirty="0"/>
            <a:t>​= −0.30 s/lap</a:t>
          </a:r>
          <a:br>
            <a:rPr lang="en-GB" sz="1400" dirty="0"/>
          </a:br>
          <a:r>
            <a:rPr lang="en-GB" sz="1400" b="0" i="0">
              <a:latin typeface="Cambria Math" panose="02040503050406030204" pitchFamily="18" charset="0"/>
            </a:rPr>
            <a:t>𝐺(𝑛+1)</a:t>
          </a:r>
          <a:r>
            <a:rPr lang="en-GB" sz="1400" dirty="0"/>
            <a:t> =−0.513 s</a:t>
          </a:r>
          <a:br>
            <a:rPr lang="en-GB" sz="1400" dirty="0"/>
          </a:br>
          <a:r>
            <a:rPr lang="en-GB" sz="1400" b="1" dirty="0"/>
            <a:t>Classification: AHEAD</a:t>
          </a:r>
          <a:endParaRPr lang="en-GB" sz="1400" kern="1200" dirty="0"/>
        </a:p>
      </cdr:txBody>
    </cdr:sp>
  </cdr:relSizeAnchor>
  <cdr:relSizeAnchor xmlns:cdr="http://schemas.openxmlformats.org/drawingml/2006/chartDrawing">
    <cdr:from>
      <cdr:x>0.58566</cdr:x>
      <cdr:y>0.60637</cdr:y>
    </cdr:from>
    <cdr:to>
      <cdr:x>0.85871</cdr:x>
      <cdr:y>0.75806</cdr:y>
    </cdr:to>
    <cdr:sp macro="" textlink="">
      <cdr:nvSpPr>
        <cdr:cNvPr id="4" name="TextBox 1">
          <a:extLst xmlns:a="http://schemas.openxmlformats.org/drawingml/2006/main">
            <a:ext uri="{FF2B5EF4-FFF2-40B4-BE49-F238E27FC236}">
              <a16:creationId xmlns:a16="http://schemas.microsoft.com/office/drawing/2014/main" id="{DDA98F3D-B09C-FFBE-7E8A-CBDFAA0E7AE1}"/>
            </a:ext>
          </a:extLst>
        </cdr:cNvPr>
        <cdr:cNvSpPr txBox="1"/>
      </cdr:nvSpPr>
      <cdr:spPr>
        <a:xfrm xmlns:a="http://schemas.openxmlformats.org/drawingml/2006/main">
          <a:off x="5099412" y="3648981"/>
          <a:ext cx="2377480" cy="912796"/>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Equal compound pace</a:t>
          </a:r>
          <a:br>
            <a:rPr lang="en-GB" sz="1400" dirty="0"/>
          </a:br>
          <a:r>
            <a:rPr lang="en-GB" sz="1400" b="0" i="0">
              <a:latin typeface="Cambria Math" panose="02040503050406030204" pitchFamily="18" charset="0"/>
            </a:rPr>
            <a:t>𝐶_𝐻</a:t>
          </a:r>
          <a:r>
            <a:rPr lang="en-GB" sz="1400" dirty="0"/>
            <a:t>=0.00 s/lap</a:t>
          </a:r>
          <a:br>
            <a:rPr lang="en-GB" sz="1400" dirty="0"/>
          </a:br>
          <a:r>
            <a:rPr lang="en-GB" sz="1400" b="0" i="0">
              <a:latin typeface="Cambria Math" panose="02040503050406030204" pitchFamily="18" charset="0"/>
            </a:rPr>
            <a:t>𝐺(𝑛+1)</a:t>
          </a:r>
          <a:r>
            <a:rPr lang="en-GB" sz="1400" dirty="0"/>
            <a:t> =−0.213 s</a:t>
          </a:r>
          <a:br>
            <a:rPr lang="en-GB" sz="1400" dirty="0"/>
          </a:br>
          <a:r>
            <a:rPr lang="en-GB" sz="1400" b="1" dirty="0"/>
            <a:t>Classification: MARGINAL</a:t>
          </a:r>
          <a:endParaRPr lang="en-GB" sz="1400" kern="1200" dirty="0"/>
        </a:p>
      </cdr:txBody>
    </cdr:sp>
  </cdr:relSizeAnchor>
  <cdr:relSizeAnchor xmlns:cdr="http://schemas.openxmlformats.org/drawingml/2006/chartDrawing">
    <cdr:from>
      <cdr:x>0.13402</cdr:x>
      <cdr:y>0.45497</cdr:y>
    </cdr:from>
    <cdr:to>
      <cdr:x>0.41245</cdr:x>
      <cdr:y>0.54503</cdr:y>
    </cdr:to>
    <cdr:sp macro="" textlink="">
      <cdr:nvSpPr>
        <cdr:cNvPr id="5" name="TextBox 1">
          <a:extLst xmlns:a="http://schemas.openxmlformats.org/drawingml/2006/main">
            <a:ext uri="{FF2B5EF4-FFF2-40B4-BE49-F238E27FC236}">
              <a16:creationId xmlns:a16="http://schemas.microsoft.com/office/drawing/2014/main" id="{289D7C17-A65D-43C4-C8BD-E005A9033960}"/>
            </a:ext>
          </a:extLst>
        </cdr:cNvPr>
        <cdr:cNvSpPr txBox="1"/>
      </cdr:nvSpPr>
      <cdr:spPr>
        <a:xfrm xmlns:a="http://schemas.openxmlformats.org/drawingml/2006/main">
          <a:off x="1166926" y="2737872"/>
          <a:ext cx="2424352" cy="541970"/>
        </a:xfrm>
        <a:prstGeom xmlns:a="http://schemas.openxmlformats.org/drawingml/2006/main" prst="rect">
          <a:avLst/>
        </a:prstGeom>
        <a:solidFill xmlns:a="http://schemas.openxmlformats.org/drawingml/2006/main">
          <a:schemeClr val="accent1">
            <a:alpha val="25000"/>
          </a:schemeClr>
        </a:solidFill>
      </cdr:spPr>
      <cdr:txBody>
        <a:bodyPr xmlns:a="http://schemas.openxmlformats.org/drawingml/2006/main" wrap="square" rtlCol="0"/>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lang="en-GB" sz="1400" b="1" dirty="0"/>
            <a:t>Ahead → Marginal crossover</a:t>
          </a:r>
          <a:br>
            <a:rPr lang="en-GB" sz="1400" dirty="0"/>
          </a:br>
          <a:r>
            <a:rPr lang="en-GB" sz="1400" b="0" i="0">
              <a:latin typeface="Cambria Math" panose="02040503050406030204" pitchFamily="18" charset="0"/>
            </a:rPr>
            <a:t>𝐶_𝐻</a:t>
          </a:r>
          <a:r>
            <a:rPr lang="en-GB" sz="1400" dirty="0"/>
            <a:t> ≈−0.037 s/lap</a:t>
          </a:r>
          <a:endParaRPr lang="en-GB" sz="1400" kern="1200" dirty="0"/>
        </a:p>
      </cdr:txBody>
    </cdr:sp>
  </cdr:relSizeAnchor>
  <cdr:relSizeAnchor xmlns:cdr="http://schemas.openxmlformats.org/drawingml/2006/chartDrawing">
    <cdr:from>
      <cdr:x>0.27324</cdr:x>
      <cdr:y>0.54503</cdr:y>
    </cdr:from>
    <cdr:to>
      <cdr:x>0.44912</cdr:x>
      <cdr:y>0.57859</cdr:y>
    </cdr:to>
    <cdr:cxnSp macro="">
      <cdr:nvCxnSpPr>
        <cdr:cNvPr id="8" name="Straight Arrow Connector 7">
          <a:extLst xmlns:a="http://schemas.openxmlformats.org/drawingml/2006/main">
            <a:ext uri="{FF2B5EF4-FFF2-40B4-BE49-F238E27FC236}">
              <a16:creationId xmlns:a16="http://schemas.microsoft.com/office/drawing/2014/main" id="{0A6A8A57-4D50-82FC-FA5D-7CC2A44D52D6}"/>
            </a:ext>
          </a:extLst>
        </cdr:cNvPr>
        <cdr:cNvCxnSpPr>
          <a:stCxn xmlns:a="http://schemas.openxmlformats.org/drawingml/2006/main" id="5" idx="2"/>
        </cdr:cNvCxnSpPr>
      </cdr:nvCxnSpPr>
      <cdr:spPr>
        <a:xfrm xmlns:a="http://schemas.openxmlformats.org/drawingml/2006/main">
          <a:off x="2379102" y="3279842"/>
          <a:ext cx="1531444" cy="201923"/>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0.51224</cdr:x>
      <cdr:y>0.54946</cdr:y>
    </cdr:from>
    <cdr:to>
      <cdr:x>0.58566</cdr:x>
      <cdr:y>0.68222</cdr:y>
    </cdr:to>
    <cdr:cxnSp macro="">
      <cdr:nvCxnSpPr>
        <cdr:cNvPr id="11" name="Straight Arrow Connector 10">
          <a:extLst xmlns:a="http://schemas.openxmlformats.org/drawingml/2006/main">
            <a:ext uri="{FF2B5EF4-FFF2-40B4-BE49-F238E27FC236}">
              <a16:creationId xmlns:a16="http://schemas.microsoft.com/office/drawing/2014/main" id="{3BDC16CA-3425-8ED0-404A-1DA8595F51B7}"/>
            </a:ext>
          </a:extLst>
        </cdr:cNvPr>
        <cdr:cNvCxnSpPr>
          <a:stCxn xmlns:a="http://schemas.openxmlformats.org/drawingml/2006/main" id="4" idx="1"/>
        </cdr:cNvCxnSpPr>
      </cdr:nvCxnSpPr>
      <cdr:spPr>
        <a:xfrm xmlns:a="http://schemas.openxmlformats.org/drawingml/2006/main" flipH="1" flipV="1">
          <a:off x="4460167" y="3306505"/>
          <a:ext cx="639245" cy="798874"/>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0.05047</cdr:x>
      <cdr:y>0.83447</cdr:y>
    </cdr:from>
    <cdr:to>
      <cdr:x>0.20528</cdr:x>
      <cdr:y>0.84893</cdr:y>
    </cdr:to>
    <cdr:cxnSp macro="">
      <cdr:nvCxnSpPr>
        <cdr:cNvPr id="13" name="Straight Arrow Connector 12">
          <a:extLst xmlns:a="http://schemas.openxmlformats.org/drawingml/2006/main">
            <a:ext uri="{FF2B5EF4-FFF2-40B4-BE49-F238E27FC236}">
              <a16:creationId xmlns:a16="http://schemas.microsoft.com/office/drawing/2014/main" id="{7B1B9B14-D312-7177-9256-ABB950AE6934}"/>
            </a:ext>
          </a:extLst>
        </cdr:cNvPr>
        <cdr:cNvCxnSpPr>
          <a:stCxn xmlns:a="http://schemas.openxmlformats.org/drawingml/2006/main" id="3" idx="1"/>
        </cdr:cNvCxnSpPr>
      </cdr:nvCxnSpPr>
      <cdr:spPr>
        <a:xfrm xmlns:a="http://schemas.openxmlformats.org/drawingml/2006/main" flipH="1">
          <a:off x="439454" y="5021579"/>
          <a:ext cx="1347920" cy="87056"/>
        </a:xfrm>
        <a:prstGeom xmlns:a="http://schemas.openxmlformats.org/drawingml/2006/main" prst="straightConnector1">
          <a:avLst/>
        </a:prstGeom>
        <a:ln xmlns:a="http://schemas.openxmlformats.org/drawingml/2006/main">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D4FD3B-9DAB-73C1-F2A1-A7C4CC98F1F1}"/>
              </a:ext>
            </a:extLst>
          </p:cNvPr>
          <p:cNvSpPr>
            <a:spLocks noGrp="1"/>
          </p:cNvSpPr>
          <p:nvPr>
            <p:ph type="ctrTitle"/>
          </p:nvPr>
        </p:nvSpPr>
        <p:spPr>
          <a:xfrm>
            <a:off x="3784402" y="3499590"/>
            <a:ext cx="22706410" cy="7444669"/>
          </a:xfrm>
        </p:spPr>
        <p:txBody>
          <a:bodyPr anchor="b"/>
          <a:lstStyle>
            <a:lvl1pPr algn="ctr">
              <a:defRPr sz="14899"/>
            </a:lvl1pPr>
          </a:lstStyle>
          <a:p>
            <a:r>
              <a:rPr lang="en-US"/>
              <a:t>Click to edit Master title style</a:t>
            </a:r>
          </a:p>
        </p:txBody>
      </p:sp>
      <p:sp>
        <p:nvSpPr>
          <p:cNvPr id="3" name="Subtitle 2">
            <a:extLst>
              <a:ext uri="{FF2B5EF4-FFF2-40B4-BE49-F238E27FC236}">
                <a16:creationId xmlns:a16="http://schemas.microsoft.com/office/drawing/2014/main" id="{E90CCDF8-A8F1-DB3A-E769-E984AA99F650}"/>
              </a:ext>
            </a:extLst>
          </p:cNvPr>
          <p:cNvSpPr>
            <a:spLocks noGrp="1"/>
          </p:cNvSpPr>
          <p:nvPr>
            <p:ph type="subTitle" idx="1"/>
          </p:nvPr>
        </p:nvSpPr>
        <p:spPr>
          <a:xfrm>
            <a:off x="3784402" y="11231355"/>
            <a:ext cx="22706410" cy="5162758"/>
          </a:xfrm>
        </p:spPr>
        <p:txBody>
          <a:bodyPr/>
          <a:lstStyle>
            <a:lvl1pPr marL="0" indent="0" algn="ctr">
              <a:buNone/>
              <a:defRPr sz="5960"/>
            </a:lvl1pPr>
            <a:lvl2pPr marL="1135319" indent="0" algn="ctr">
              <a:buNone/>
              <a:defRPr sz="4966"/>
            </a:lvl2pPr>
            <a:lvl3pPr marL="2270638" indent="0" algn="ctr">
              <a:buNone/>
              <a:defRPr sz="4470"/>
            </a:lvl3pPr>
            <a:lvl4pPr marL="3405957" indent="0" algn="ctr">
              <a:buNone/>
              <a:defRPr sz="3973"/>
            </a:lvl4pPr>
            <a:lvl5pPr marL="4541276" indent="0" algn="ctr">
              <a:buNone/>
              <a:defRPr sz="3973"/>
            </a:lvl5pPr>
            <a:lvl6pPr marL="5676595" indent="0" algn="ctr">
              <a:buNone/>
              <a:defRPr sz="3973"/>
            </a:lvl6pPr>
            <a:lvl7pPr marL="6811914" indent="0" algn="ctr">
              <a:buNone/>
              <a:defRPr sz="3973"/>
            </a:lvl7pPr>
            <a:lvl8pPr marL="7947233" indent="0" algn="ctr">
              <a:buNone/>
              <a:defRPr sz="3973"/>
            </a:lvl8pPr>
            <a:lvl9pPr marL="9082552" indent="0" algn="ctr">
              <a:buNone/>
              <a:defRPr sz="3973"/>
            </a:lvl9pPr>
          </a:lstStyle>
          <a:p>
            <a:r>
              <a:rPr lang="en-US"/>
              <a:t>Click to edit Master subtitle style</a:t>
            </a:r>
          </a:p>
        </p:txBody>
      </p:sp>
      <p:sp>
        <p:nvSpPr>
          <p:cNvPr id="4" name="Date Placeholder 3">
            <a:extLst>
              <a:ext uri="{FF2B5EF4-FFF2-40B4-BE49-F238E27FC236}">
                <a16:creationId xmlns:a16="http://schemas.microsoft.com/office/drawing/2014/main" id="{AE8CA4C3-96C0-28F2-E4E5-46FBEC52218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6547E3C7-3B2A-630B-4CF2-D1CBA23EC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9CA8AE6-2673-D313-E245-05419E72551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4131336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5847D5-612D-A75D-0CFF-3CF66086732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A67DCCD-D566-5491-A69C-C480A92FF619}"/>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29BE6A-F14D-E7B8-4E8D-3FB45D65BAB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CC36FA8C-6718-08F9-78AC-9F54F61C17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B204F2-76A2-E208-DC16-86852D11882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130929509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86E6D-81B2-39D7-F6CA-1FDB8F3CDF75}"/>
              </a:ext>
            </a:extLst>
          </p:cNvPr>
          <p:cNvSpPr>
            <a:spLocks noGrp="1"/>
          </p:cNvSpPr>
          <p:nvPr>
            <p:ph type="title"/>
          </p:nvPr>
        </p:nvSpPr>
        <p:spPr>
          <a:xfrm>
            <a:off x="2065653" y="5331060"/>
            <a:ext cx="26112371" cy="8894992"/>
          </a:xfrm>
        </p:spPr>
        <p:txBody>
          <a:bodyPr anchor="b"/>
          <a:lstStyle>
            <a:lvl1pPr>
              <a:defRPr sz="14899"/>
            </a:lvl1pPr>
          </a:lstStyle>
          <a:p>
            <a:r>
              <a:rPr lang="en-US"/>
              <a:t>Click to edit Master title style</a:t>
            </a:r>
          </a:p>
        </p:txBody>
      </p:sp>
      <p:sp>
        <p:nvSpPr>
          <p:cNvPr id="3" name="Text Placeholder 2">
            <a:extLst>
              <a:ext uri="{FF2B5EF4-FFF2-40B4-BE49-F238E27FC236}">
                <a16:creationId xmlns:a16="http://schemas.microsoft.com/office/drawing/2014/main" id="{6ECF5A2F-32B2-9E6B-A955-A4B16F9173A8}"/>
              </a:ext>
            </a:extLst>
          </p:cNvPr>
          <p:cNvSpPr>
            <a:spLocks noGrp="1"/>
          </p:cNvSpPr>
          <p:nvPr>
            <p:ph type="body" idx="1"/>
          </p:nvPr>
        </p:nvSpPr>
        <p:spPr>
          <a:xfrm>
            <a:off x="2065653" y="14310202"/>
            <a:ext cx="26112371" cy="4677666"/>
          </a:xfrm>
        </p:spPr>
        <p:txBody>
          <a:bodyPr/>
          <a:lstStyle>
            <a:lvl1pPr marL="0" indent="0">
              <a:buNone/>
              <a:defRPr sz="5960">
                <a:solidFill>
                  <a:schemeClr val="tx1">
                    <a:tint val="82000"/>
                  </a:schemeClr>
                </a:solidFill>
              </a:defRPr>
            </a:lvl1pPr>
            <a:lvl2pPr marL="1135319" indent="0">
              <a:buNone/>
              <a:defRPr sz="4966">
                <a:solidFill>
                  <a:schemeClr val="tx1">
                    <a:tint val="82000"/>
                  </a:schemeClr>
                </a:solidFill>
              </a:defRPr>
            </a:lvl2pPr>
            <a:lvl3pPr marL="2270638" indent="0">
              <a:buNone/>
              <a:defRPr sz="4470">
                <a:solidFill>
                  <a:schemeClr val="tx1">
                    <a:tint val="82000"/>
                  </a:schemeClr>
                </a:solidFill>
              </a:defRPr>
            </a:lvl3pPr>
            <a:lvl4pPr marL="3405957" indent="0">
              <a:buNone/>
              <a:defRPr sz="3973">
                <a:solidFill>
                  <a:schemeClr val="tx1">
                    <a:tint val="82000"/>
                  </a:schemeClr>
                </a:solidFill>
              </a:defRPr>
            </a:lvl4pPr>
            <a:lvl5pPr marL="4541276" indent="0">
              <a:buNone/>
              <a:defRPr sz="3973">
                <a:solidFill>
                  <a:schemeClr val="tx1">
                    <a:tint val="82000"/>
                  </a:schemeClr>
                </a:solidFill>
              </a:defRPr>
            </a:lvl5pPr>
            <a:lvl6pPr marL="5676595" indent="0">
              <a:buNone/>
              <a:defRPr sz="3973">
                <a:solidFill>
                  <a:schemeClr val="tx1">
                    <a:tint val="82000"/>
                  </a:schemeClr>
                </a:solidFill>
              </a:defRPr>
            </a:lvl6pPr>
            <a:lvl7pPr marL="6811914" indent="0">
              <a:buNone/>
              <a:defRPr sz="3973">
                <a:solidFill>
                  <a:schemeClr val="tx1">
                    <a:tint val="82000"/>
                  </a:schemeClr>
                </a:solidFill>
              </a:defRPr>
            </a:lvl7pPr>
            <a:lvl8pPr marL="7947233" indent="0">
              <a:buNone/>
              <a:defRPr sz="3973">
                <a:solidFill>
                  <a:schemeClr val="tx1">
                    <a:tint val="82000"/>
                  </a:schemeClr>
                </a:solidFill>
              </a:defRPr>
            </a:lvl8pPr>
            <a:lvl9pPr marL="9082552" indent="0">
              <a:buNone/>
              <a:defRPr sz="3973">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99D4D6-D434-6ABC-0EB3-841B9677532D}"/>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8A3DBF90-D39D-DFEC-874D-EE2BF05793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E8B8D75-1F9C-EFE9-A353-C7B6DF648589}"/>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371438584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F3C462-0DF7-5E50-159A-CF6B20B22FC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4C5DAB-0B06-1EA5-F146-EF7855DF18E3}"/>
              </a:ext>
            </a:extLst>
          </p:cNvPr>
          <p:cNvSpPr>
            <a:spLocks noGrp="1"/>
          </p:cNvSpPr>
          <p:nvPr>
            <p:ph sz="half" idx="1"/>
          </p:nvPr>
        </p:nvSpPr>
        <p:spPr>
          <a:xfrm>
            <a:off x="2081421"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A98EA67-57A7-B107-E7FA-B26FC66F3800}"/>
              </a:ext>
            </a:extLst>
          </p:cNvPr>
          <p:cNvSpPr>
            <a:spLocks noGrp="1"/>
          </p:cNvSpPr>
          <p:nvPr>
            <p:ph sz="half" idx="2"/>
          </p:nvPr>
        </p:nvSpPr>
        <p:spPr>
          <a:xfrm>
            <a:off x="15326826" y="5692400"/>
            <a:ext cx="12866966" cy="135677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308DC1E-40A9-0FB1-43FA-66047720CC26}"/>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FADB1DC3-6881-1056-5C71-3580CF5D49B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C3E0B9-64DA-E1CA-FC9C-60115307BAFA}"/>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637303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72E2EB-7D63-FD36-F17E-597082AFAFE7}"/>
              </a:ext>
            </a:extLst>
          </p:cNvPr>
          <p:cNvSpPr>
            <a:spLocks noGrp="1"/>
          </p:cNvSpPr>
          <p:nvPr>
            <p:ph type="title"/>
          </p:nvPr>
        </p:nvSpPr>
        <p:spPr>
          <a:xfrm>
            <a:off x="2085364" y="1138482"/>
            <a:ext cx="26112371" cy="4133179"/>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6187BE-772B-DD93-D417-527DCF33677E}"/>
              </a:ext>
            </a:extLst>
          </p:cNvPr>
          <p:cNvSpPr>
            <a:spLocks noGrp="1"/>
          </p:cNvSpPr>
          <p:nvPr>
            <p:ph type="body" idx="1"/>
          </p:nvPr>
        </p:nvSpPr>
        <p:spPr>
          <a:xfrm>
            <a:off x="2085365" y="5241960"/>
            <a:ext cx="12807833"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4" name="Content Placeholder 3">
            <a:extLst>
              <a:ext uri="{FF2B5EF4-FFF2-40B4-BE49-F238E27FC236}">
                <a16:creationId xmlns:a16="http://schemas.microsoft.com/office/drawing/2014/main" id="{AD2CB63A-C1E8-C28C-FA08-AAD1FDB04B48}"/>
              </a:ext>
            </a:extLst>
          </p:cNvPr>
          <p:cNvSpPr>
            <a:spLocks noGrp="1"/>
          </p:cNvSpPr>
          <p:nvPr>
            <p:ph sz="half" idx="2"/>
          </p:nvPr>
        </p:nvSpPr>
        <p:spPr>
          <a:xfrm>
            <a:off x="2085365" y="7810963"/>
            <a:ext cx="12807833"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71BEB6A-74CB-239D-86B9-F09D42B18442}"/>
              </a:ext>
            </a:extLst>
          </p:cNvPr>
          <p:cNvSpPr>
            <a:spLocks noGrp="1"/>
          </p:cNvSpPr>
          <p:nvPr>
            <p:ph type="body" sz="quarter" idx="3"/>
          </p:nvPr>
        </p:nvSpPr>
        <p:spPr>
          <a:xfrm>
            <a:off x="15326827" y="5241960"/>
            <a:ext cx="12870909" cy="2569003"/>
          </a:xfrm>
        </p:spPr>
        <p:txBody>
          <a:bodyPr anchor="b"/>
          <a:lstStyle>
            <a:lvl1pPr marL="0" indent="0">
              <a:buNone/>
              <a:defRPr sz="5960" b="1"/>
            </a:lvl1pPr>
            <a:lvl2pPr marL="1135319" indent="0">
              <a:buNone/>
              <a:defRPr sz="4966" b="1"/>
            </a:lvl2pPr>
            <a:lvl3pPr marL="2270638" indent="0">
              <a:buNone/>
              <a:defRPr sz="4470" b="1"/>
            </a:lvl3pPr>
            <a:lvl4pPr marL="3405957" indent="0">
              <a:buNone/>
              <a:defRPr sz="3973" b="1"/>
            </a:lvl4pPr>
            <a:lvl5pPr marL="4541276" indent="0">
              <a:buNone/>
              <a:defRPr sz="3973" b="1"/>
            </a:lvl5pPr>
            <a:lvl6pPr marL="5676595" indent="0">
              <a:buNone/>
              <a:defRPr sz="3973" b="1"/>
            </a:lvl6pPr>
            <a:lvl7pPr marL="6811914" indent="0">
              <a:buNone/>
              <a:defRPr sz="3973" b="1"/>
            </a:lvl7pPr>
            <a:lvl8pPr marL="7947233" indent="0">
              <a:buNone/>
              <a:defRPr sz="3973" b="1"/>
            </a:lvl8pPr>
            <a:lvl9pPr marL="9082552" indent="0">
              <a:buNone/>
              <a:defRPr sz="3973" b="1"/>
            </a:lvl9pPr>
          </a:lstStyle>
          <a:p>
            <a:pPr lvl="0"/>
            <a:r>
              <a:rPr lang="en-US"/>
              <a:t>Click to edit Master text styles</a:t>
            </a:r>
          </a:p>
        </p:txBody>
      </p:sp>
      <p:sp>
        <p:nvSpPr>
          <p:cNvPr id="6" name="Content Placeholder 5">
            <a:extLst>
              <a:ext uri="{FF2B5EF4-FFF2-40B4-BE49-F238E27FC236}">
                <a16:creationId xmlns:a16="http://schemas.microsoft.com/office/drawing/2014/main" id="{6B58DF46-BAA2-A5D3-4A6E-B7394A16490E}"/>
              </a:ext>
            </a:extLst>
          </p:cNvPr>
          <p:cNvSpPr>
            <a:spLocks noGrp="1"/>
          </p:cNvSpPr>
          <p:nvPr>
            <p:ph sz="quarter" idx="4"/>
          </p:nvPr>
        </p:nvSpPr>
        <p:spPr>
          <a:xfrm>
            <a:off x="15326827" y="7810963"/>
            <a:ext cx="12870909" cy="1148875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862D87E-E487-49BA-07B4-FFC7826067D0}"/>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8" name="Footer Placeholder 7">
            <a:extLst>
              <a:ext uri="{FF2B5EF4-FFF2-40B4-BE49-F238E27FC236}">
                <a16:creationId xmlns:a16="http://schemas.microsoft.com/office/drawing/2014/main" id="{4EC89085-226C-6E33-813D-245901BA313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EACBC35-1478-8418-CD9E-2DCD9BD929F7}"/>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1235415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55A481-F285-219C-178D-233F386BECE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590C365-4A89-8761-CB2D-B966C8AB8C9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4" name="Footer Placeholder 3">
            <a:extLst>
              <a:ext uri="{FF2B5EF4-FFF2-40B4-BE49-F238E27FC236}">
                <a16:creationId xmlns:a16="http://schemas.microsoft.com/office/drawing/2014/main" id="{69A6BB22-DE74-7E13-ADFC-CF63085D2EF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301672-41C5-1502-4FD9-F3803C98D5E4}"/>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266845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2153114-3092-1866-A275-815CA573F27E}"/>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3" name="Footer Placeholder 2">
            <a:extLst>
              <a:ext uri="{FF2B5EF4-FFF2-40B4-BE49-F238E27FC236}">
                <a16:creationId xmlns:a16="http://schemas.microsoft.com/office/drawing/2014/main" id="{34C28465-82B4-9A18-1603-02DCE70128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F0EAC67-A285-595D-4D22-2BDFF4F1E4F6}"/>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79615222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BB5C3E-6008-6E5C-9CCA-53B19E7D1DFF}"/>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Content Placeholder 2">
            <a:extLst>
              <a:ext uri="{FF2B5EF4-FFF2-40B4-BE49-F238E27FC236}">
                <a16:creationId xmlns:a16="http://schemas.microsoft.com/office/drawing/2014/main" id="{B69E3642-B683-1EF6-CDD4-0BB9BF400840}"/>
              </a:ext>
            </a:extLst>
          </p:cNvPr>
          <p:cNvSpPr>
            <a:spLocks noGrp="1"/>
          </p:cNvSpPr>
          <p:nvPr>
            <p:ph idx="1"/>
          </p:nvPr>
        </p:nvSpPr>
        <p:spPr>
          <a:xfrm>
            <a:off x="12870909" y="3078847"/>
            <a:ext cx="15326827" cy="15196234"/>
          </a:xfrm>
        </p:spPr>
        <p:txBody>
          <a:bodyPr/>
          <a:lstStyle>
            <a:lvl1pPr>
              <a:defRPr sz="7946"/>
            </a:lvl1pPr>
            <a:lvl2pPr>
              <a:defRPr sz="6953"/>
            </a:lvl2pPr>
            <a:lvl3pPr>
              <a:defRPr sz="5960"/>
            </a:lvl3pPr>
            <a:lvl4pPr>
              <a:defRPr sz="4966"/>
            </a:lvl4pPr>
            <a:lvl5pPr>
              <a:defRPr sz="4966"/>
            </a:lvl5pPr>
            <a:lvl6pPr>
              <a:defRPr sz="4966"/>
            </a:lvl6pPr>
            <a:lvl7pPr>
              <a:defRPr sz="4966"/>
            </a:lvl7pPr>
            <a:lvl8pPr>
              <a:defRPr sz="4966"/>
            </a:lvl8pPr>
            <a:lvl9pPr>
              <a:defRPr sz="496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9287B1C-0A7D-5BFA-778D-C97AAD537B20}"/>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E9CC70B3-F0F2-F8AE-5FC4-F836A908973A}"/>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CA414246-574E-AB95-71A4-AB68986FAA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9A35968-4B21-4E0F-4176-7A86D545A2B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4060292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5F05FEC-4B98-268B-6D0A-C14C04476FF8}"/>
              </a:ext>
            </a:extLst>
          </p:cNvPr>
          <p:cNvSpPr>
            <a:spLocks noGrp="1"/>
          </p:cNvSpPr>
          <p:nvPr>
            <p:ph type="title"/>
          </p:nvPr>
        </p:nvSpPr>
        <p:spPr>
          <a:xfrm>
            <a:off x="2085366" y="1425575"/>
            <a:ext cx="9764543" cy="4989513"/>
          </a:xfrm>
        </p:spPr>
        <p:txBody>
          <a:bodyPr anchor="b"/>
          <a:lstStyle>
            <a:lvl1pPr>
              <a:defRPr sz="7946"/>
            </a:lvl1pPr>
          </a:lstStyle>
          <a:p>
            <a:r>
              <a:rPr lang="en-US"/>
              <a:t>Click to edit Master title style</a:t>
            </a:r>
          </a:p>
        </p:txBody>
      </p:sp>
      <p:sp>
        <p:nvSpPr>
          <p:cNvPr id="3" name="Picture Placeholder 2">
            <a:extLst>
              <a:ext uri="{FF2B5EF4-FFF2-40B4-BE49-F238E27FC236}">
                <a16:creationId xmlns:a16="http://schemas.microsoft.com/office/drawing/2014/main" id="{27F88C01-A941-9B00-D9F2-5C004C90257D}"/>
              </a:ext>
            </a:extLst>
          </p:cNvPr>
          <p:cNvSpPr>
            <a:spLocks noGrp="1"/>
          </p:cNvSpPr>
          <p:nvPr>
            <p:ph type="pic" idx="1"/>
          </p:nvPr>
        </p:nvSpPr>
        <p:spPr>
          <a:xfrm>
            <a:off x="12870909" y="3078847"/>
            <a:ext cx="15326827" cy="15196234"/>
          </a:xfrm>
        </p:spPr>
        <p:txBody>
          <a:bodyPr/>
          <a:lstStyle>
            <a:lvl1pPr marL="0" indent="0">
              <a:buNone/>
              <a:defRPr sz="7946"/>
            </a:lvl1pPr>
            <a:lvl2pPr marL="1135319" indent="0">
              <a:buNone/>
              <a:defRPr sz="6953"/>
            </a:lvl2pPr>
            <a:lvl3pPr marL="2270638" indent="0">
              <a:buNone/>
              <a:defRPr sz="5960"/>
            </a:lvl3pPr>
            <a:lvl4pPr marL="3405957" indent="0">
              <a:buNone/>
              <a:defRPr sz="4966"/>
            </a:lvl4pPr>
            <a:lvl5pPr marL="4541276" indent="0">
              <a:buNone/>
              <a:defRPr sz="4966"/>
            </a:lvl5pPr>
            <a:lvl6pPr marL="5676595" indent="0">
              <a:buNone/>
              <a:defRPr sz="4966"/>
            </a:lvl6pPr>
            <a:lvl7pPr marL="6811914" indent="0">
              <a:buNone/>
              <a:defRPr sz="4966"/>
            </a:lvl7pPr>
            <a:lvl8pPr marL="7947233" indent="0">
              <a:buNone/>
              <a:defRPr sz="4966"/>
            </a:lvl8pPr>
            <a:lvl9pPr marL="9082552" indent="0">
              <a:buNone/>
              <a:defRPr sz="4966"/>
            </a:lvl9pPr>
          </a:lstStyle>
          <a:p>
            <a:endParaRPr lang="en-US"/>
          </a:p>
        </p:txBody>
      </p:sp>
      <p:sp>
        <p:nvSpPr>
          <p:cNvPr id="4" name="Text Placeholder 3">
            <a:extLst>
              <a:ext uri="{FF2B5EF4-FFF2-40B4-BE49-F238E27FC236}">
                <a16:creationId xmlns:a16="http://schemas.microsoft.com/office/drawing/2014/main" id="{799E7260-CCAA-ADAA-C6DB-95BCF3864374}"/>
              </a:ext>
            </a:extLst>
          </p:cNvPr>
          <p:cNvSpPr>
            <a:spLocks noGrp="1"/>
          </p:cNvSpPr>
          <p:nvPr>
            <p:ph type="body" sz="half" idx="2"/>
          </p:nvPr>
        </p:nvSpPr>
        <p:spPr>
          <a:xfrm>
            <a:off x="2085366" y="6415088"/>
            <a:ext cx="9764543" cy="11884743"/>
          </a:xfrm>
        </p:spPr>
        <p:txBody>
          <a:bodyPr/>
          <a:lstStyle>
            <a:lvl1pPr marL="0" indent="0">
              <a:buNone/>
              <a:defRPr sz="3973"/>
            </a:lvl1pPr>
            <a:lvl2pPr marL="1135319" indent="0">
              <a:buNone/>
              <a:defRPr sz="3476"/>
            </a:lvl2pPr>
            <a:lvl3pPr marL="2270638" indent="0">
              <a:buNone/>
              <a:defRPr sz="2980"/>
            </a:lvl3pPr>
            <a:lvl4pPr marL="3405957" indent="0">
              <a:buNone/>
              <a:defRPr sz="2483"/>
            </a:lvl4pPr>
            <a:lvl5pPr marL="4541276" indent="0">
              <a:buNone/>
              <a:defRPr sz="2483"/>
            </a:lvl5pPr>
            <a:lvl6pPr marL="5676595" indent="0">
              <a:buNone/>
              <a:defRPr sz="2483"/>
            </a:lvl6pPr>
            <a:lvl7pPr marL="6811914" indent="0">
              <a:buNone/>
              <a:defRPr sz="2483"/>
            </a:lvl7pPr>
            <a:lvl8pPr marL="7947233" indent="0">
              <a:buNone/>
              <a:defRPr sz="2483"/>
            </a:lvl8pPr>
            <a:lvl9pPr marL="9082552" indent="0">
              <a:buNone/>
              <a:defRPr sz="2483"/>
            </a:lvl9pPr>
          </a:lstStyle>
          <a:p>
            <a:pPr lvl="0"/>
            <a:r>
              <a:rPr lang="en-US"/>
              <a:t>Click to edit Master text styles</a:t>
            </a:r>
          </a:p>
        </p:txBody>
      </p:sp>
      <p:sp>
        <p:nvSpPr>
          <p:cNvPr id="5" name="Date Placeholder 4">
            <a:extLst>
              <a:ext uri="{FF2B5EF4-FFF2-40B4-BE49-F238E27FC236}">
                <a16:creationId xmlns:a16="http://schemas.microsoft.com/office/drawing/2014/main" id="{21F2A759-C84A-5250-3E5A-33BEC6FCC0C2}"/>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6" name="Footer Placeholder 5">
            <a:extLst>
              <a:ext uri="{FF2B5EF4-FFF2-40B4-BE49-F238E27FC236}">
                <a16:creationId xmlns:a16="http://schemas.microsoft.com/office/drawing/2014/main" id="{3FC4F04A-B614-AD34-1AA0-3F7BEF8917A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958483-303B-04C8-E52D-62E872DB0171}"/>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038544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BA02FA-EB38-276E-D898-226BADFED0C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E8AFF57-FDE8-467A-65A6-AE33BF96C5C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05A4FD0-CA7D-EEBB-AD29-209286955BF4}"/>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065984FF-3BCD-9D8A-5615-FBB7504D7F1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EE43AC6-882C-5F98-9EBB-89DA90F4F04F}"/>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085724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BFDB7AB-ABC4-68AA-B0D8-E54E3655C626}"/>
              </a:ext>
            </a:extLst>
          </p:cNvPr>
          <p:cNvSpPr>
            <a:spLocks noGrp="1"/>
          </p:cNvSpPr>
          <p:nvPr>
            <p:ph type="title" orient="vert"/>
          </p:nvPr>
        </p:nvSpPr>
        <p:spPr>
          <a:xfrm>
            <a:off x="21665699" y="1138480"/>
            <a:ext cx="6528093" cy="1812163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05FAEE0-36F0-7FE3-AC1F-E2ADD5600196}"/>
              </a:ext>
            </a:extLst>
          </p:cNvPr>
          <p:cNvSpPr>
            <a:spLocks noGrp="1"/>
          </p:cNvSpPr>
          <p:nvPr>
            <p:ph type="body" orient="vert" idx="1"/>
          </p:nvPr>
        </p:nvSpPr>
        <p:spPr>
          <a:xfrm>
            <a:off x="2081421" y="1138480"/>
            <a:ext cx="19205838" cy="181216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60A466-D090-DF2B-3F18-AEEE84FA97B5}"/>
              </a:ext>
            </a:extLst>
          </p:cNvPr>
          <p:cNvSpPr>
            <a:spLocks noGrp="1"/>
          </p:cNvSpPr>
          <p:nvPr>
            <p:ph type="dt" sz="half" idx="10"/>
          </p:nvPr>
        </p:nvSpPr>
        <p:spPr/>
        <p:txBody>
          <a:body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3B7339FB-03C0-4EAE-6FFC-08423B52AB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3FEED97-7117-6497-4990-A2FE999CC842}"/>
              </a:ext>
            </a:extLst>
          </p:cNvPr>
          <p:cNvSpPr>
            <a:spLocks noGrp="1"/>
          </p:cNvSpPr>
          <p:nvPr>
            <p:ph type="sldNum" sz="quarter" idx="12"/>
          </p:nvPr>
        </p:nvSpPr>
        <p:spPr/>
        <p:txBody>
          <a:bodyPr/>
          <a:lstStyle/>
          <a:p>
            <a:fld id="{1FCDF8B1-6973-470E-AB28-235CA0F474B3}" type="slidenum">
              <a:rPr lang="en-US" smtClean="0"/>
              <a:t>‹#›</a:t>
            </a:fld>
            <a:endParaRPr lang="en-US"/>
          </a:p>
        </p:txBody>
      </p:sp>
    </p:spTree>
    <p:extLst>
      <p:ext uri="{BB962C8B-B14F-4D97-AF65-F5344CB8AC3E}">
        <p14:creationId xmlns:p14="http://schemas.microsoft.com/office/powerpoint/2010/main" val="22212986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F0E0B22-A89A-5973-E2DD-484FFBF406CC}"/>
              </a:ext>
            </a:extLst>
          </p:cNvPr>
          <p:cNvSpPr>
            <a:spLocks noGrp="1"/>
          </p:cNvSpPr>
          <p:nvPr>
            <p:ph type="title"/>
          </p:nvPr>
        </p:nvSpPr>
        <p:spPr>
          <a:xfrm>
            <a:off x="2081421" y="1138482"/>
            <a:ext cx="26112371" cy="413317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884D9E5-D5A3-E8B7-978C-BD51F2F5951A}"/>
              </a:ext>
            </a:extLst>
          </p:cNvPr>
          <p:cNvSpPr>
            <a:spLocks noGrp="1"/>
          </p:cNvSpPr>
          <p:nvPr>
            <p:ph type="body" idx="1"/>
          </p:nvPr>
        </p:nvSpPr>
        <p:spPr>
          <a:xfrm>
            <a:off x="2081421" y="5692400"/>
            <a:ext cx="26112371" cy="1356771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CE71214-3195-344B-A339-2D736B3F63E5}"/>
              </a:ext>
            </a:extLst>
          </p:cNvPr>
          <p:cNvSpPr>
            <a:spLocks noGrp="1"/>
          </p:cNvSpPr>
          <p:nvPr>
            <p:ph type="dt" sz="half" idx="2"/>
          </p:nvPr>
        </p:nvSpPr>
        <p:spPr>
          <a:xfrm>
            <a:off x="2081421" y="19819454"/>
            <a:ext cx="6811923" cy="1138480"/>
          </a:xfrm>
          <a:prstGeom prst="rect">
            <a:avLst/>
          </a:prstGeom>
        </p:spPr>
        <p:txBody>
          <a:bodyPr vert="horz" lIns="91440" tIns="45720" rIns="91440" bIns="45720" rtlCol="0" anchor="ctr"/>
          <a:lstStyle>
            <a:lvl1pPr algn="l">
              <a:defRPr sz="2980">
                <a:solidFill>
                  <a:schemeClr val="tx1">
                    <a:tint val="82000"/>
                  </a:schemeClr>
                </a:solidFill>
              </a:defRPr>
            </a:lvl1pPr>
          </a:lstStyle>
          <a:p>
            <a:fld id="{6FC0B953-D46D-4D2E-9843-C4483CF37FBB}" type="datetimeFigureOut">
              <a:rPr lang="en-US" smtClean="0"/>
              <a:t>8/19/2026</a:t>
            </a:fld>
            <a:endParaRPr lang="en-US"/>
          </a:p>
        </p:txBody>
      </p:sp>
      <p:sp>
        <p:nvSpPr>
          <p:cNvPr id="5" name="Footer Placeholder 4">
            <a:extLst>
              <a:ext uri="{FF2B5EF4-FFF2-40B4-BE49-F238E27FC236}">
                <a16:creationId xmlns:a16="http://schemas.microsoft.com/office/drawing/2014/main" id="{EDFBEE76-988C-4401-4A66-CBB1DBC99EDB}"/>
              </a:ext>
            </a:extLst>
          </p:cNvPr>
          <p:cNvSpPr>
            <a:spLocks noGrp="1"/>
          </p:cNvSpPr>
          <p:nvPr>
            <p:ph type="ftr" sz="quarter" idx="3"/>
          </p:nvPr>
        </p:nvSpPr>
        <p:spPr>
          <a:xfrm>
            <a:off x="10028665" y="19819454"/>
            <a:ext cx="10217884" cy="1138480"/>
          </a:xfrm>
          <a:prstGeom prst="rect">
            <a:avLst/>
          </a:prstGeom>
        </p:spPr>
        <p:txBody>
          <a:bodyPr vert="horz" lIns="91440" tIns="45720" rIns="91440" bIns="45720" rtlCol="0" anchor="ctr"/>
          <a:lstStyle>
            <a:lvl1pPr algn="ctr">
              <a:defRPr sz="298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5858F0B-A953-CEEE-EC5C-1D1615E6E194}"/>
              </a:ext>
            </a:extLst>
          </p:cNvPr>
          <p:cNvSpPr>
            <a:spLocks noGrp="1"/>
          </p:cNvSpPr>
          <p:nvPr>
            <p:ph type="sldNum" sz="quarter" idx="4"/>
          </p:nvPr>
        </p:nvSpPr>
        <p:spPr>
          <a:xfrm>
            <a:off x="21381869" y="19819454"/>
            <a:ext cx="6811923" cy="1138480"/>
          </a:xfrm>
          <a:prstGeom prst="rect">
            <a:avLst/>
          </a:prstGeom>
        </p:spPr>
        <p:txBody>
          <a:bodyPr vert="horz" lIns="91440" tIns="45720" rIns="91440" bIns="45720" rtlCol="0" anchor="ctr"/>
          <a:lstStyle>
            <a:lvl1pPr algn="r">
              <a:defRPr sz="2980">
                <a:solidFill>
                  <a:schemeClr val="tx1">
                    <a:tint val="82000"/>
                  </a:schemeClr>
                </a:solidFill>
              </a:defRPr>
            </a:lvl1pPr>
          </a:lstStyle>
          <a:p>
            <a:fld id="{1FCDF8B1-6973-470E-AB28-235CA0F474B3}" type="slidenum">
              <a:rPr lang="en-US" smtClean="0"/>
              <a:t>‹#›</a:t>
            </a:fld>
            <a:endParaRPr lang="en-US"/>
          </a:p>
        </p:txBody>
      </p:sp>
    </p:spTree>
    <p:extLst>
      <p:ext uri="{BB962C8B-B14F-4D97-AF65-F5344CB8AC3E}">
        <p14:creationId xmlns:p14="http://schemas.microsoft.com/office/powerpoint/2010/main" val="16453211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2270638" rtl="0" eaLnBrk="1" latinLnBrk="0" hangingPunct="1">
        <a:lnSpc>
          <a:spcPct val="90000"/>
        </a:lnSpc>
        <a:spcBef>
          <a:spcPct val="0"/>
        </a:spcBef>
        <a:buNone/>
        <a:defRPr sz="10926" kern="1200">
          <a:solidFill>
            <a:schemeClr val="tx1"/>
          </a:solidFill>
          <a:latin typeface="+mj-lt"/>
          <a:ea typeface="+mj-ea"/>
          <a:cs typeface="+mj-cs"/>
        </a:defRPr>
      </a:lvl1pPr>
    </p:titleStyle>
    <p:bodyStyle>
      <a:lvl1pPr marL="567660" indent="-567660" algn="l" defTabSz="2270638" rtl="0" eaLnBrk="1" latinLnBrk="0" hangingPunct="1">
        <a:lnSpc>
          <a:spcPct val="90000"/>
        </a:lnSpc>
        <a:spcBef>
          <a:spcPts val="2483"/>
        </a:spcBef>
        <a:buFont typeface="Arial" panose="020B0604020202020204" pitchFamily="34" charset="0"/>
        <a:buChar char="•"/>
        <a:defRPr sz="6953" kern="1200">
          <a:solidFill>
            <a:schemeClr val="tx1"/>
          </a:solidFill>
          <a:latin typeface="+mn-lt"/>
          <a:ea typeface="+mn-ea"/>
          <a:cs typeface="+mn-cs"/>
        </a:defRPr>
      </a:lvl1pPr>
      <a:lvl2pPr marL="1702979" indent="-567660" algn="l" defTabSz="2270638" rtl="0" eaLnBrk="1" latinLnBrk="0" hangingPunct="1">
        <a:lnSpc>
          <a:spcPct val="90000"/>
        </a:lnSpc>
        <a:spcBef>
          <a:spcPts val="1242"/>
        </a:spcBef>
        <a:buFont typeface="Arial" panose="020B0604020202020204" pitchFamily="34" charset="0"/>
        <a:buChar char="•"/>
        <a:defRPr sz="5960" kern="1200">
          <a:solidFill>
            <a:schemeClr val="tx1"/>
          </a:solidFill>
          <a:latin typeface="+mn-lt"/>
          <a:ea typeface="+mn-ea"/>
          <a:cs typeface="+mn-cs"/>
        </a:defRPr>
      </a:lvl2pPr>
      <a:lvl3pPr marL="2838298" indent="-567660" algn="l" defTabSz="2270638" rtl="0" eaLnBrk="1" latinLnBrk="0" hangingPunct="1">
        <a:lnSpc>
          <a:spcPct val="90000"/>
        </a:lnSpc>
        <a:spcBef>
          <a:spcPts val="1242"/>
        </a:spcBef>
        <a:buFont typeface="Arial" panose="020B0604020202020204" pitchFamily="34" charset="0"/>
        <a:buChar char="•"/>
        <a:defRPr sz="4966" kern="1200">
          <a:solidFill>
            <a:schemeClr val="tx1"/>
          </a:solidFill>
          <a:latin typeface="+mn-lt"/>
          <a:ea typeface="+mn-ea"/>
          <a:cs typeface="+mn-cs"/>
        </a:defRPr>
      </a:lvl3pPr>
      <a:lvl4pPr marL="3973617"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4pPr>
      <a:lvl5pPr marL="5108936"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5pPr>
      <a:lvl6pPr marL="6244255"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6pPr>
      <a:lvl7pPr marL="7379574"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7pPr>
      <a:lvl8pPr marL="8514893"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8pPr>
      <a:lvl9pPr marL="9650212" indent="-567660" algn="l" defTabSz="2270638" rtl="0" eaLnBrk="1" latinLnBrk="0" hangingPunct="1">
        <a:lnSpc>
          <a:spcPct val="90000"/>
        </a:lnSpc>
        <a:spcBef>
          <a:spcPts val="1242"/>
        </a:spcBef>
        <a:buFont typeface="Arial" panose="020B0604020202020204" pitchFamily="34" charset="0"/>
        <a:buChar char="•"/>
        <a:defRPr sz="4470" kern="1200">
          <a:solidFill>
            <a:schemeClr val="tx1"/>
          </a:solidFill>
          <a:latin typeface="+mn-lt"/>
          <a:ea typeface="+mn-ea"/>
          <a:cs typeface="+mn-cs"/>
        </a:defRPr>
      </a:lvl9pPr>
    </p:bodyStyle>
    <p:otherStyle>
      <a:defPPr>
        <a:defRPr lang="en-US"/>
      </a:defPPr>
      <a:lvl1pPr marL="0" algn="l" defTabSz="2270638" rtl="0" eaLnBrk="1" latinLnBrk="0" hangingPunct="1">
        <a:defRPr sz="4470" kern="1200">
          <a:solidFill>
            <a:schemeClr val="tx1"/>
          </a:solidFill>
          <a:latin typeface="+mn-lt"/>
          <a:ea typeface="+mn-ea"/>
          <a:cs typeface="+mn-cs"/>
        </a:defRPr>
      </a:lvl1pPr>
      <a:lvl2pPr marL="1135319" algn="l" defTabSz="2270638" rtl="0" eaLnBrk="1" latinLnBrk="0" hangingPunct="1">
        <a:defRPr sz="4470" kern="1200">
          <a:solidFill>
            <a:schemeClr val="tx1"/>
          </a:solidFill>
          <a:latin typeface="+mn-lt"/>
          <a:ea typeface="+mn-ea"/>
          <a:cs typeface="+mn-cs"/>
        </a:defRPr>
      </a:lvl2pPr>
      <a:lvl3pPr marL="2270638" algn="l" defTabSz="2270638" rtl="0" eaLnBrk="1" latinLnBrk="0" hangingPunct="1">
        <a:defRPr sz="4470" kern="1200">
          <a:solidFill>
            <a:schemeClr val="tx1"/>
          </a:solidFill>
          <a:latin typeface="+mn-lt"/>
          <a:ea typeface="+mn-ea"/>
          <a:cs typeface="+mn-cs"/>
        </a:defRPr>
      </a:lvl3pPr>
      <a:lvl4pPr marL="3405957" algn="l" defTabSz="2270638" rtl="0" eaLnBrk="1" latinLnBrk="0" hangingPunct="1">
        <a:defRPr sz="4470" kern="1200">
          <a:solidFill>
            <a:schemeClr val="tx1"/>
          </a:solidFill>
          <a:latin typeface="+mn-lt"/>
          <a:ea typeface="+mn-ea"/>
          <a:cs typeface="+mn-cs"/>
        </a:defRPr>
      </a:lvl4pPr>
      <a:lvl5pPr marL="4541276" algn="l" defTabSz="2270638" rtl="0" eaLnBrk="1" latinLnBrk="0" hangingPunct="1">
        <a:defRPr sz="4470" kern="1200">
          <a:solidFill>
            <a:schemeClr val="tx1"/>
          </a:solidFill>
          <a:latin typeface="+mn-lt"/>
          <a:ea typeface="+mn-ea"/>
          <a:cs typeface="+mn-cs"/>
        </a:defRPr>
      </a:lvl5pPr>
      <a:lvl6pPr marL="5676595" algn="l" defTabSz="2270638" rtl="0" eaLnBrk="1" latinLnBrk="0" hangingPunct="1">
        <a:defRPr sz="4470" kern="1200">
          <a:solidFill>
            <a:schemeClr val="tx1"/>
          </a:solidFill>
          <a:latin typeface="+mn-lt"/>
          <a:ea typeface="+mn-ea"/>
          <a:cs typeface="+mn-cs"/>
        </a:defRPr>
      </a:lvl6pPr>
      <a:lvl7pPr marL="6811914" algn="l" defTabSz="2270638" rtl="0" eaLnBrk="1" latinLnBrk="0" hangingPunct="1">
        <a:defRPr sz="4470" kern="1200">
          <a:solidFill>
            <a:schemeClr val="tx1"/>
          </a:solidFill>
          <a:latin typeface="+mn-lt"/>
          <a:ea typeface="+mn-ea"/>
          <a:cs typeface="+mn-cs"/>
        </a:defRPr>
      </a:lvl7pPr>
      <a:lvl8pPr marL="7947233" algn="l" defTabSz="2270638" rtl="0" eaLnBrk="1" latinLnBrk="0" hangingPunct="1">
        <a:defRPr sz="4470" kern="1200">
          <a:solidFill>
            <a:schemeClr val="tx1"/>
          </a:solidFill>
          <a:latin typeface="+mn-lt"/>
          <a:ea typeface="+mn-ea"/>
          <a:cs typeface="+mn-cs"/>
        </a:defRPr>
      </a:lvl8pPr>
      <a:lvl9pPr marL="9082552" algn="l" defTabSz="2270638" rtl="0" eaLnBrk="1" latinLnBrk="0" hangingPunct="1">
        <a:defRPr sz="447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12" Type="http://schemas.openxmlformats.org/officeDocument/2006/relationships/image" Target="../media/image10.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11" Type="http://schemas.openxmlformats.org/officeDocument/2006/relationships/image" Target="../media/image9.png"/><Relationship Id="rId5" Type="http://schemas.openxmlformats.org/officeDocument/2006/relationships/image" Target="../media/image4.png"/><Relationship Id="rId10" Type="http://schemas.openxmlformats.org/officeDocument/2006/relationships/image" Target="../media/image8.png"/><Relationship Id="rId4" Type="http://schemas.openxmlformats.org/officeDocument/2006/relationships/image" Target="../media/image3.png"/><Relationship Id="rId9" Type="http://schemas.openxmlformats.org/officeDocument/2006/relationships/chart" Target="../charts/char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C00DE77B-220B-7C90-BD26-40381BDFE66A}"/>
              </a:ext>
            </a:extLst>
          </p:cNvPr>
          <p:cNvSpPr/>
          <p:nvPr/>
        </p:nvSpPr>
        <p:spPr>
          <a:xfrm>
            <a:off x="174106" y="7522261"/>
            <a:ext cx="8778327" cy="7805339"/>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 name="Rectangle 3">
                <a:extLst>
                  <a:ext uri="{FF2B5EF4-FFF2-40B4-BE49-F238E27FC236}">
                    <a16:creationId xmlns:a16="http://schemas.microsoft.com/office/drawing/2014/main" id="{8559F5E1-8FFE-4CA6-9E2E-8FF7CBE63227}"/>
                  </a:ext>
                </a:extLst>
              </p:cNvPr>
              <p:cNvSpPr/>
              <p:nvPr/>
            </p:nvSpPr>
            <p:spPr>
              <a:xfrm>
                <a:off x="0" y="1"/>
                <a:ext cx="30275213" cy="2338202"/>
              </a:xfrm>
              <a:prstGeom prst="rect">
                <a:avLst/>
              </a:prstGeom>
              <a:gradFill>
                <a:gsLst>
                  <a:gs pos="0">
                    <a:schemeClr val="accent1">
                      <a:lumMod val="75000"/>
                    </a:schemeClr>
                  </a:gs>
                  <a:gs pos="100000">
                    <a:schemeClr val="accent1">
                      <a:lumMod val="75000"/>
                      <a:alpha val="70000"/>
                    </a:schemeClr>
                  </a:gs>
                </a:gsLst>
                <a:lin ang="180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Choice>
        <mc:Fallback>
          <p:sp>
            <p:nvSpPr>
              <p:cNvPr id="4" name="Rectangle 3">
                <a:extLst>
                  <a:ext uri="{FF2B5EF4-FFF2-40B4-BE49-F238E27FC236}">
                    <a16:creationId xmlns:a16="http://schemas.microsoft.com/office/drawing/2014/main" id="{8559F5E1-8FFE-4CA6-9E2E-8FF7CBE63227}"/>
                  </a:ext>
                </a:extLst>
              </p:cNvPr>
              <p:cNvSpPr>
                <a:spLocks noRot="1" noChangeAspect="1" noMove="1" noResize="1" noEditPoints="1" noAdjustHandles="1" noChangeArrowheads="1" noChangeShapeType="1" noTextEdit="1"/>
              </p:cNvSpPr>
              <p:nvPr/>
            </p:nvSpPr>
            <p:spPr>
              <a:xfrm>
                <a:off x="0" y="1"/>
                <a:ext cx="30275213" cy="2338202"/>
              </a:xfrm>
              <a:prstGeom prst="rect">
                <a:avLst/>
              </a:prstGeom>
              <a:blipFill>
                <a:blip r:embed="rId2"/>
                <a:stretch>
                  <a:fillRect l="-658" t="-571"/>
                </a:stretch>
              </a:blipFill>
              <a:ln>
                <a:noFill/>
              </a:ln>
            </p:spPr>
            <p:txBody>
              <a:bodyPr/>
              <a:lstStyle/>
              <a:p>
                <a:r>
                  <a:rPr lang="en-GB">
                    <a:noFill/>
                  </a:rPr>
                  <a:t> </a:t>
                </a:r>
              </a:p>
            </p:txBody>
          </p:sp>
        </mc:Fallback>
      </mc:AlternateContent>
      <p:grpSp>
        <p:nvGrpSpPr>
          <p:cNvPr id="12" name="Group 11">
            <a:extLst>
              <a:ext uri="{FF2B5EF4-FFF2-40B4-BE49-F238E27FC236}">
                <a16:creationId xmlns:a16="http://schemas.microsoft.com/office/drawing/2014/main" id="{6625B6F7-F4F4-DE28-7401-A9A59722D7EC}"/>
              </a:ext>
            </a:extLst>
          </p:cNvPr>
          <p:cNvGrpSpPr/>
          <p:nvPr/>
        </p:nvGrpSpPr>
        <p:grpSpPr>
          <a:xfrm>
            <a:off x="24392206" y="-1172308"/>
            <a:ext cx="6821119" cy="6751320"/>
            <a:chOff x="9448800" y="5013960"/>
            <a:chExt cx="6821119" cy="6751320"/>
          </a:xfrm>
          <a:gradFill>
            <a:gsLst>
              <a:gs pos="0">
                <a:schemeClr val="bg1">
                  <a:alpha val="1000"/>
                </a:schemeClr>
              </a:gs>
              <a:gs pos="100000">
                <a:schemeClr val="bg1">
                  <a:alpha val="20000"/>
                </a:schemeClr>
              </a:gs>
            </a:gsLst>
            <a:lin ang="21594000" scaled="0"/>
          </a:gradFill>
        </p:grpSpPr>
        <mc:AlternateContent xmlns:mc="http://schemas.openxmlformats.org/markup-compatibility/2006">
          <mc:Choice xmlns:a14="http://schemas.microsoft.com/office/drawing/2010/main" Requires="a14">
            <p:sp>
              <p:nvSpPr>
                <p:cNvPr id="5" name="Hexagon 4">
                  <a:extLst>
                    <a:ext uri="{FF2B5EF4-FFF2-40B4-BE49-F238E27FC236}">
                      <a16:creationId xmlns:a16="http://schemas.microsoft.com/office/drawing/2014/main" id="{64DA78B6-E60B-8912-1D40-D22FF2B1B78E}"/>
                    </a:ext>
                  </a:extLst>
                </p:cNvPr>
                <p:cNvSpPr/>
                <p:nvPr/>
              </p:nvSpPr>
              <p:spPr>
                <a:xfrm>
                  <a:off x="138303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Choice>
          <mc:Fallback>
            <p:sp>
              <p:nvSpPr>
                <p:cNvPr id="5" name="Hexagon 4">
                  <a:extLst>
                    <a:ext uri="{FF2B5EF4-FFF2-40B4-BE49-F238E27FC236}">
                      <a16:creationId xmlns:a16="http://schemas.microsoft.com/office/drawing/2014/main" id="{64DA78B6-E60B-8912-1D40-D22FF2B1B78E}"/>
                    </a:ext>
                  </a:extLst>
                </p:cNvPr>
                <p:cNvSpPr>
                  <a:spLocks noRot="1" noChangeAspect="1" noMove="1" noResize="1" noEditPoints="1" noAdjustHandles="1" noChangeArrowheads="1" noChangeShapeType="1" noTextEdit="1"/>
                </p:cNvSpPr>
                <p:nvPr/>
              </p:nvSpPr>
              <p:spPr>
                <a:xfrm>
                  <a:off x="13830300" y="5013960"/>
                  <a:ext cx="2439619" cy="2103120"/>
                </a:xfrm>
                <a:prstGeom prst="hexagon">
                  <a:avLst/>
                </a:prstGeom>
                <a:blipFill>
                  <a:blip r:embed="rId3"/>
                  <a:stretch>
                    <a:fillRect l="-645" t="-1923"/>
                  </a:stretch>
                </a:blipFill>
                <a:ln>
                  <a:noFill/>
                </a:ln>
              </p:spPr>
              <p:txBody>
                <a:bodyPr/>
                <a:lstStyle/>
                <a:p>
                  <a:r>
                    <a:rPr lang="en-GB">
                      <a:noFill/>
                    </a:rPr>
                    <a:t> </a:t>
                  </a:r>
                </a:p>
              </p:txBody>
            </p:sp>
          </mc:Fallback>
        </mc:AlternateContent>
        <p:sp>
          <p:nvSpPr>
            <p:cNvPr id="6" name="Hexagon 5">
              <a:extLst>
                <a:ext uri="{FF2B5EF4-FFF2-40B4-BE49-F238E27FC236}">
                  <a16:creationId xmlns:a16="http://schemas.microsoft.com/office/drawing/2014/main" id="{A85E1AE2-6E5C-BA23-0320-F8AEA4A11651}"/>
                </a:ext>
              </a:extLst>
            </p:cNvPr>
            <p:cNvSpPr/>
            <p:nvPr/>
          </p:nvSpPr>
          <p:spPr>
            <a:xfrm>
              <a:off x="13830300" y="73380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Hexagon 6">
              <a:extLst>
                <a:ext uri="{FF2B5EF4-FFF2-40B4-BE49-F238E27FC236}">
                  <a16:creationId xmlns:a16="http://schemas.microsoft.com/office/drawing/2014/main" id="{8AD2B990-87CE-7AC6-4DC0-A1D5800A9C5C}"/>
                </a:ext>
              </a:extLst>
            </p:cNvPr>
            <p:cNvSpPr/>
            <p:nvPr/>
          </p:nvSpPr>
          <p:spPr>
            <a:xfrm>
              <a:off x="9563100" y="740664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Hexagon 7">
              <a:extLst>
                <a:ext uri="{FF2B5EF4-FFF2-40B4-BE49-F238E27FC236}">
                  <a16:creationId xmlns:a16="http://schemas.microsoft.com/office/drawing/2014/main" id="{9CD67156-276C-45B3-2DA5-B72DA7C456DB}"/>
                </a:ext>
              </a:extLst>
            </p:cNvPr>
            <p:cNvSpPr/>
            <p:nvPr/>
          </p:nvSpPr>
          <p:spPr>
            <a:xfrm>
              <a:off x="11696700" y="853440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Hexagon 8">
              <a:extLst>
                <a:ext uri="{FF2B5EF4-FFF2-40B4-BE49-F238E27FC236}">
                  <a16:creationId xmlns:a16="http://schemas.microsoft.com/office/drawing/2014/main" id="{65447D6D-CEA6-137E-D287-BF6349DDFEA0}"/>
                </a:ext>
              </a:extLst>
            </p:cNvPr>
            <p:cNvSpPr/>
            <p:nvPr/>
          </p:nvSpPr>
          <p:spPr>
            <a:xfrm>
              <a:off x="11696700" y="614172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Hexagon 9">
              <a:extLst>
                <a:ext uri="{FF2B5EF4-FFF2-40B4-BE49-F238E27FC236}">
                  <a16:creationId xmlns:a16="http://schemas.microsoft.com/office/drawing/2014/main" id="{680CB974-B4BA-7EFE-F653-E87C092C7355}"/>
                </a:ext>
              </a:extLst>
            </p:cNvPr>
            <p:cNvSpPr/>
            <p:nvPr/>
          </p:nvSpPr>
          <p:spPr>
            <a:xfrm>
              <a:off x="9448800" y="50139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Hexagon 10">
              <a:extLst>
                <a:ext uri="{FF2B5EF4-FFF2-40B4-BE49-F238E27FC236}">
                  <a16:creationId xmlns:a16="http://schemas.microsoft.com/office/drawing/2014/main" id="{0D711F70-0428-5554-745F-5AD4673A435C}"/>
                </a:ext>
              </a:extLst>
            </p:cNvPr>
            <p:cNvSpPr/>
            <p:nvPr/>
          </p:nvSpPr>
          <p:spPr>
            <a:xfrm>
              <a:off x="13830300" y="9662160"/>
              <a:ext cx="2439619" cy="2103120"/>
            </a:xfrm>
            <a:prstGeom prst="hexagon">
              <a:avLst/>
            </a:prstGeom>
            <a:gr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0" name="TextBox 19">
            <a:extLst>
              <a:ext uri="{FF2B5EF4-FFF2-40B4-BE49-F238E27FC236}">
                <a16:creationId xmlns:a16="http://schemas.microsoft.com/office/drawing/2014/main" id="{6005A11B-AA23-1ED2-DB07-3B743C4AD66C}"/>
              </a:ext>
            </a:extLst>
          </p:cNvPr>
          <p:cNvSpPr txBox="1"/>
          <p:nvPr/>
        </p:nvSpPr>
        <p:spPr>
          <a:xfrm>
            <a:off x="372011" y="220697"/>
            <a:ext cx="20510652" cy="1938992"/>
          </a:xfrm>
          <a:prstGeom prst="rect">
            <a:avLst/>
          </a:prstGeom>
          <a:noFill/>
        </p:spPr>
        <p:txBody>
          <a:bodyPr wrap="square" rtlCol="0">
            <a:spAutoFit/>
          </a:bodyPr>
          <a:lstStyle/>
          <a:p>
            <a:r>
              <a:rPr lang="en-GB" sz="6000" dirty="0">
                <a:solidFill>
                  <a:schemeClr val="bg1"/>
                </a:solidFill>
                <a:latin typeface="Roboto" panose="02000000000000000000" pitchFamily="2" charset="0"/>
                <a:ea typeface="Roboto" panose="02000000000000000000" pitchFamily="2" charset="0"/>
              </a:rPr>
              <a:t>Undercut Analyser: Predicting Undercut Opportunities From Historic Lap Time Data in Formula One</a:t>
            </a:r>
            <a:endParaRPr lang="en-US" sz="6000" dirty="0">
              <a:solidFill>
                <a:schemeClr val="bg1"/>
              </a:solidFill>
              <a:latin typeface="Roboto" panose="02000000000000000000" pitchFamily="2" charset="0"/>
              <a:ea typeface="Roboto" panose="02000000000000000000" pitchFamily="2" charset="0"/>
            </a:endParaRPr>
          </a:p>
        </p:txBody>
      </p:sp>
      <p:sp>
        <p:nvSpPr>
          <p:cNvPr id="21" name="TextBox 20">
            <a:extLst>
              <a:ext uri="{FF2B5EF4-FFF2-40B4-BE49-F238E27FC236}">
                <a16:creationId xmlns:a16="http://schemas.microsoft.com/office/drawing/2014/main" id="{D7E9C173-CE98-E0F1-E61F-E2B13CD12099}"/>
              </a:ext>
            </a:extLst>
          </p:cNvPr>
          <p:cNvSpPr txBox="1"/>
          <p:nvPr/>
        </p:nvSpPr>
        <p:spPr>
          <a:xfrm>
            <a:off x="22566409" y="1546327"/>
            <a:ext cx="7199821" cy="584775"/>
          </a:xfrm>
          <a:prstGeom prst="rect">
            <a:avLst/>
          </a:prstGeom>
          <a:noFill/>
        </p:spPr>
        <p:txBody>
          <a:bodyPr wrap="square" rtlCol="0">
            <a:spAutoFit/>
          </a:bodyPr>
          <a:lstStyle/>
          <a:p>
            <a:r>
              <a:rPr lang="en-US" sz="3200" dirty="0">
                <a:solidFill>
                  <a:schemeClr val="bg1">
                    <a:lumMod val="95000"/>
                  </a:schemeClr>
                </a:solidFill>
              </a:rPr>
              <a:t>Harry Adams, supervised by Tim Mullis</a:t>
            </a:r>
          </a:p>
        </p:txBody>
      </p:sp>
      <p:sp>
        <p:nvSpPr>
          <p:cNvPr id="22" name="Rectangle 21">
            <a:extLst>
              <a:ext uri="{FF2B5EF4-FFF2-40B4-BE49-F238E27FC236}">
                <a16:creationId xmlns:a16="http://schemas.microsoft.com/office/drawing/2014/main" id="{E237A6BB-7AD1-ACC4-8F55-A3DABD6E5852}"/>
              </a:ext>
            </a:extLst>
          </p:cNvPr>
          <p:cNvSpPr/>
          <p:nvPr/>
        </p:nvSpPr>
        <p:spPr>
          <a:xfrm>
            <a:off x="174106" y="2474534"/>
            <a:ext cx="8778327" cy="487668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TextBox 22">
            <a:extLst>
              <a:ext uri="{FF2B5EF4-FFF2-40B4-BE49-F238E27FC236}">
                <a16:creationId xmlns:a16="http://schemas.microsoft.com/office/drawing/2014/main" id="{16733866-3CC9-FE0D-658B-2C92C7017AED}"/>
              </a:ext>
            </a:extLst>
          </p:cNvPr>
          <p:cNvSpPr txBox="1"/>
          <p:nvPr/>
        </p:nvSpPr>
        <p:spPr>
          <a:xfrm>
            <a:off x="278016" y="2514799"/>
            <a:ext cx="6236411"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PROBLEM &amp; AIM</a:t>
            </a:r>
          </a:p>
        </p:txBody>
      </p:sp>
      <p:sp>
        <p:nvSpPr>
          <p:cNvPr id="25" name="TextBox 24">
            <a:extLst>
              <a:ext uri="{FF2B5EF4-FFF2-40B4-BE49-F238E27FC236}">
                <a16:creationId xmlns:a16="http://schemas.microsoft.com/office/drawing/2014/main" id="{7DCE9D50-0173-5934-B585-A6270F943100}"/>
              </a:ext>
            </a:extLst>
          </p:cNvPr>
          <p:cNvSpPr txBox="1"/>
          <p:nvPr/>
        </p:nvSpPr>
        <p:spPr>
          <a:xfrm>
            <a:off x="304800" y="3333541"/>
            <a:ext cx="8465577" cy="2569999"/>
          </a:xfrm>
          <a:prstGeom prst="rect">
            <a:avLst/>
          </a:prstGeom>
          <a:noFill/>
        </p:spPr>
        <p:txBody>
          <a:bodyPr wrap="square">
            <a:spAutoFit/>
          </a:bodyPr>
          <a:lstStyle/>
          <a:p>
            <a:pPr>
              <a:lnSpc>
                <a:spcPct val="105000"/>
              </a:lnSpc>
              <a:spcAft>
                <a:spcPts val="500"/>
              </a:spcAft>
            </a:pPr>
            <a:r>
              <a:rPr lang="en-GB" sz="2200" dirty="0">
                <a:solidFill>
                  <a:srgbClr val="2D343C"/>
                </a:solidFill>
              </a:rPr>
              <a:t>An undercut pits the attacking driver before a competitor ahead, using fresher-tyre performance to try to gain track position once the target pits themselves [1]. </a:t>
            </a:r>
            <a:r>
              <a:rPr lang="en-GB" sz="2200" b="1" dirty="0">
                <a:solidFill>
                  <a:srgbClr val="141F30"/>
                </a:solidFill>
              </a:rPr>
              <a:t>The decision is a relative-performance problem: the time gained must be large enough to overcome the initial gap. </a:t>
            </a:r>
            <a:r>
              <a:rPr lang="en-GB" sz="2200" dirty="0">
                <a:solidFill>
                  <a:srgbClr val="2D343C"/>
                </a:solidFill>
              </a:rPr>
              <a:t>Aim: develop, implement and validate a deterministic model using historic F1 data and configurable engineering parameters. </a:t>
            </a:r>
          </a:p>
        </p:txBody>
      </p:sp>
      <p:sp>
        <p:nvSpPr>
          <p:cNvPr id="36" name="TextBox 35">
            <a:extLst>
              <a:ext uri="{FF2B5EF4-FFF2-40B4-BE49-F238E27FC236}">
                <a16:creationId xmlns:a16="http://schemas.microsoft.com/office/drawing/2014/main" id="{9A3E3553-6674-3021-2412-4E7DA7432491}"/>
              </a:ext>
            </a:extLst>
          </p:cNvPr>
          <p:cNvSpPr txBox="1"/>
          <p:nvPr/>
        </p:nvSpPr>
        <p:spPr>
          <a:xfrm>
            <a:off x="201961" y="7663241"/>
            <a:ext cx="6236411"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MODEL FORMULATION</a:t>
            </a:r>
          </a:p>
        </p:txBody>
      </p:sp>
      <p:grpSp>
        <p:nvGrpSpPr>
          <p:cNvPr id="13" name="Group 12">
            <a:extLst>
              <a:ext uri="{FF2B5EF4-FFF2-40B4-BE49-F238E27FC236}">
                <a16:creationId xmlns:a16="http://schemas.microsoft.com/office/drawing/2014/main" id="{94CB609A-293E-B682-33D6-6F3C42F478F4}"/>
              </a:ext>
            </a:extLst>
          </p:cNvPr>
          <p:cNvGrpSpPr/>
          <p:nvPr/>
        </p:nvGrpSpPr>
        <p:grpSpPr>
          <a:xfrm>
            <a:off x="304799" y="5942717"/>
            <a:ext cx="8465577" cy="1220225"/>
            <a:chOff x="874413" y="12420412"/>
            <a:chExt cx="8331899" cy="1220225"/>
          </a:xfrm>
        </p:grpSpPr>
        <p:grpSp>
          <p:nvGrpSpPr>
            <p:cNvPr id="37" name="Group 36" descr="arrows sequence to the right">
              <a:extLst>
                <a:ext uri="{FF2B5EF4-FFF2-40B4-BE49-F238E27FC236}">
                  <a16:creationId xmlns:a16="http://schemas.microsoft.com/office/drawing/2014/main" id="{4E61C209-F798-674F-714E-87B8F8B1B931}"/>
                </a:ext>
              </a:extLst>
            </p:cNvPr>
            <p:cNvGrpSpPr/>
            <p:nvPr/>
          </p:nvGrpSpPr>
          <p:grpSpPr>
            <a:xfrm>
              <a:off x="874413" y="12420412"/>
              <a:ext cx="8331899" cy="1207109"/>
              <a:chOff x="528638" y="6762751"/>
              <a:chExt cx="2166938" cy="771967"/>
            </a:xfrm>
          </p:grpSpPr>
          <p:sp>
            <p:nvSpPr>
              <p:cNvPr id="38" name="Freeform 12">
                <a:extLst>
                  <a:ext uri="{FF2B5EF4-FFF2-40B4-BE49-F238E27FC236}">
                    <a16:creationId xmlns:a16="http://schemas.microsoft.com/office/drawing/2014/main" id="{35900C3A-C33F-80BA-E73B-C59D944EF85D}"/>
                  </a:ext>
                  <a:ext uri="{C183D7F6-B498-43B3-948B-1728B52AA6E4}">
                    <adec:decorative xmlns:adec="http://schemas.microsoft.com/office/drawing/2017/decorative" val="1"/>
                  </a:ext>
                </a:extLst>
              </p:cNvPr>
              <p:cNvSpPr>
                <a:spLocks/>
              </p:cNvSpPr>
              <p:nvPr/>
            </p:nvSpPr>
            <p:spPr bwMode="auto">
              <a:xfrm>
                <a:off x="1934876" y="6766368"/>
                <a:ext cx="760700" cy="768350"/>
              </a:xfrm>
              <a:custGeom>
                <a:avLst/>
                <a:gdLst>
                  <a:gd name="T0" fmla="*/ 414 w 529"/>
                  <a:gd name="T1" fmla="*/ 484 h 484"/>
                  <a:gd name="T2" fmla="*/ 0 w 529"/>
                  <a:gd name="T3" fmla="*/ 484 h 484"/>
                  <a:gd name="T4" fmla="*/ 0 w 529"/>
                  <a:gd name="T5" fmla="*/ 0 h 484"/>
                  <a:gd name="T6" fmla="*/ 414 w 529"/>
                  <a:gd name="T7" fmla="*/ 0 h 484"/>
                  <a:gd name="T8" fmla="*/ 529 w 529"/>
                  <a:gd name="T9" fmla="*/ 242 h 484"/>
                  <a:gd name="T10" fmla="*/ 414 w 529"/>
                  <a:gd name="T11" fmla="*/ 484 h 484"/>
                </a:gdLst>
                <a:ahLst/>
                <a:cxnLst>
                  <a:cxn ang="0">
                    <a:pos x="T0" y="T1"/>
                  </a:cxn>
                  <a:cxn ang="0">
                    <a:pos x="T2" y="T3"/>
                  </a:cxn>
                  <a:cxn ang="0">
                    <a:pos x="T4" y="T5"/>
                  </a:cxn>
                  <a:cxn ang="0">
                    <a:pos x="T6" y="T7"/>
                  </a:cxn>
                  <a:cxn ang="0">
                    <a:pos x="T8" y="T9"/>
                  </a:cxn>
                  <a:cxn ang="0">
                    <a:pos x="T10" y="T11"/>
                  </a:cxn>
                </a:cxnLst>
                <a:rect l="0" t="0" r="r" b="b"/>
                <a:pathLst>
                  <a:path w="529" h="484">
                    <a:moveTo>
                      <a:pt x="414" y="484"/>
                    </a:moveTo>
                    <a:lnTo>
                      <a:pt x="0" y="484"/>
                    </a:lnTo>
                    <a:lnTo>
                      <a:pt x="0" y="0"/>
                    </a:lnTo>
                    <a:lnTo>
                      <a:pt x="414" y="0"/>
                    </a:lnTo>
                    <a:lnTo>
                      <a:pt x="529" y="242"/>
                    </a:lnTo>
                    <a:lnTo>
                      <a:pt x="414" y="484"/>
                    </a:lnTo>
                    <a:close/>
                  </a:path>
                </a:pathLst>
              </a:custGeom>
              <a:solidFill>
                <a:schemeClr val="accent1">
                  <a:lumMod val="60000"/>
                  <a:lumOff val="4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39" name="Freeform 18">
                <a:extLst>
                  <a:ext uri="{FF2B5EF4-FFF2-40B4-BE49-F238E27FC236}">
                    <a16:creationId xmlns:a16="http://schemas.microsoft.com/office/drawing/2014/main" id="{551C6DD4-9EE5-B46F-3851-731F22F0C63C}"/>
                  </a:ext>
                  <a:ext uri="{C183D7F6-B498-43B3-948B-1728B52AA6E4}">
                    <adec:decorative xmlns:adec="http://schemas.microsoft.com/office/drawing/2017/decorative" val="1"/>
                  </a:ext>
                </a:extLst>
              </p:cNvPr>
              <p:cNvSpPr>
                <a:spLocks/>
              </p:cNvSpPr>
              <p:nvPr/>
            </p:nvSpPr>
            <p:spPr bwMode="auto">
              <a:xfrm>
                <a:off x="1474576" y="6762751"/>
                <a:ext cx="671675"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close/>
                  </a:path>
                </a:pathLst>
              </a:custGeom>
              <a:solidFill>
                <a:schemeClr val="accent1"/>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0" name="Freeform 24">
                <a:extLst>
                  <a:ext uri="{FF2B5EF4-FFF2-40B4-BE49-F238E27FC236}">
                    <a16:creationId xmlns:a16="http://schemas.microsoft.com/office/drawing/2014/main" id="{EEC55DF9-DCA2-D81B-F6B6-2116E92D690A}"/>
                  </a:ext>
                  <a:ext uri="{C183D7F6-B498-43B3-948B-1728B52AA6E4}">
                    <adec:decorative xmlns:adec="http://schemas.microsoft.com/office/drawing/2017/decorative" val="1"/>
                  </a:ext>
                </a:extLst>
              </p:cNvPr>
              <p:cNvSpPr>
                <a:spLocks/>
              </p:cNvSpPr>
              <p:nvPr/>
            </p:nvSpPr>
            <p:spPr bwMode="auto">
              <a:xfrm>
                <a:off x="1008258" y="6762751"/>
                <a:ext cx="615993"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close/>
                  </a:path>
                </a:pathLst>
              </a:custGeom>
              <a:solidFill>
                <a:schemeClr val="accent1">
                  <a:lumMod val="75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1" name="Freeform 81">
                <a:extLst>
                  <a:ext uri="{FF2B5EF4-FFF2-40B4-BE49-F238E27FC236}">
                    <a16:creationId xmlns:a16="http://schemas.microsoft.com/office/drawing/2014/main" id="{DD7AA118-8696-726D-BE66-F6F76732FDBA}"/>
                  </a:ext>
                  <a:ext uri="{C183D7F6-B498-43B3-948B-1728B52AA6E4}">
                    <adec:decorative xmlns:adec="http://schemas.microsoft.com/office/drawing/2017/decorative" val="1"/>
                  </a:ext>
                </a:extLst>
              </p:cNvPr>
              <p:cNvSpPr>
                <a:spLocks/>
              </p:cNvSpPr>
              <p:nvPr/>
            </p:nvSpPr>
            <p:spPr bwMode="auto">
              <a:xfrm>
                <a:off x="528638" y="6762751"/>
                <a:ext cx="657225"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close/>
                  </a:path>
                </a:pathLst>
              </a:custGeom>
              <a:solidFill>
                <a:schemeClr val="accent1">
                  <a:lumMod val="50000"/>
                </a:schemeClr>
              </a:solidFill>
              <a:ln w="12700">
                <a:solidFill>
                  <a:schemeClr val="bg1"/>
                </a:solidFill>
              </a:ln>
            </p:spPr>
            <p:txBody>
              <a:bodyPr vert="horz" wrap="square" lIns="91440" tIns="45720" rIns="91440" bIns="45720" numCol="1" anchor="t" anchorCtr="0" compatLnSpc="1">
                <a:prstTxWarp prst="textNoShape">
                  <a:avLst/>
                </a:prstTxWarp>
              </a:bodyPr>
              <a:lstStyle/>
              <a:p>
                <a:endParaRPr lang="en-US" dirty="0"/>
              </a:p>
            </p:txBody>
          </p:sp>
          <p:sp>
            <p:nvSpPr>
              <p:cNvPr id="42" name="Freeform 186">
                <a:extLst>
                  <a:ext uri="{FF2B5EF4-FFF2-40B4-BE49-F238E27FC236}">
                    <a16:creationId xmlns:a16="http://schemas.microsoft.com/office/drawing/2014/main" id="{6EBFB11C-7F1E-126F-0375-19BE6DE5E78C}"/>
                  </a:ext>
                  <a:ext uri="{C183D7F6-B498-43B3-948B-1728B52AA6E4}">
                    <adec:decorative xmlns:adec="http://schemas.microsoft.com/office/drawing/2017/decorative" val="1"/>
                  </a:ext>
                </a:extLst>
              </p:cNvPr>
              <p:cNvSpPr>
                <a:spLocks noEditPoints="1"/>
              </p:cNvSpPr>
              <p:nvPr/>
            </p:nvSpPr>
            <p:spPr bwMode="auto">
              <a:xfrm>
                <a:off x="537742" y="7143427"/>
                <a:ext cx="2141959"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close/>
                    <a:moveTo>
                      <a:pt x="1784" y="0"/>
                    </a:moveTo>
                    <a:lnTo>
                      <a:pt x="1784"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4" name="Freeform 16">
                <a:extLst>
                  <a:ext uri="{FF2B5EF4-FFF2-40B4-BE49-F238E27FC236}">
                    <a16:creationId xmlns:a16="http://schemas.microsoft.com/office/drawing/2014/main" id="{41B67439-FD77-66F8-46E5-A8A8DF8937B6}"/>
                  </a:ext>
                  <a:ext uri="{C183D7F6-B498-43B3-948B-1728B52AA6E4}">
                    <adec:decorative xmlns:adec="http://schemas.microsoft.com/office/drawing/2017/decorative" val="1"/>
                  </a:ext>
                </a:extLst>
              </p:cNvPr>
              <p:cNvSpPr>
                <a:spLocks noEditPoints="1"/>
              </p:cNvSpPr>
              <p:nvPr/>
            </p:nvSpPr>
            <p:spPr bwMode="auto">
              <a:xfrm>
                <a:off x="1965309" y="6772276"/>
                <a:ext cx="250825" cy="752475"/>
              </a:xfrm>
              <a:custGeom>
                <a:avLst/>
                <a:gdLst>
                  <a:gd name="T0" fmla="*/ 43 w 158"/>
                  <a:gd name="T1" fmla="*/ 474 h 474"/>
                  <a:gd name="T2" fmla="*/ 0 w 158"/>
                  <a:gd name="T3" fmla="*/ 474 h 474"/>
                  <a:gd name="T4" fmla="*/ 0 w 158"/>
                  <a:gd name="T5" fmla="*/ 474 h 474"/>
                  <a:gd name="T6" fmla="*/ 43 w 158"/>
                  <a:gd name="T7" fmla="*/ 474 h 474"/>
                  <a:gd name="T8" fmla="*/ 43 w 158"/>
                  <a:gd name="T9" fmla="*/ 474 h 474"/>
                  <a:gd name="T10" fmla="*/ 43 w 158"/>
                  <a:gd name="T11" fmla="*/ 0 h 474"/>
                  <a:gd name="T12" fmla="*/ 0 w 158"/>
                  <a:gd name="T13" fmla="*/ 0 h 474"/>
                  <a:gd name="T14" fmla="*/ 111 w 158"/>
                  <a:gd name="T15" fmla="*/ 236 h 474"/>
                  <a:gd name="T16" fmla="*/ 158 w 158"/>
                  <a:gd name="T17" fmla="*/ 236 h 474"/>
                  <a:gd name="T18" fmla="*/ 43 w 158"/>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8" h="474">
                    <a:moveTo>
                      <a:pt x="43" y="474"/>
                    </a:moveTo>
                    <a:lnTo>
                      <a:pt x="0" y="474"/>
                    </a:lnTo>
                    <a:lnTo>
                      <a:pt x="0" y="474"/>
                    </a:lnTo>
                    <a:lnTo>
                      <a:pt x="43" y="474"/>
                    </a:lnTo>
                    <a:lnTo>
                      <a:pt x="43" y="474"/>
                    </a:lnTo>
                    <a:close/>
                    <a:moveTo>
                      <a:pt x="43" y="0"/>
                    </a:moveTo>
                    <a:lnTo>
                      <a:pt x="0" y="0"/>
                    </a:lnTo>
                    <a:lnTo>
                      <a:pt x="111" y="236"/>
                    </a:lnTo>
                    <a:lnTo>
                      <a:pt x="158" y="236"/>
                    </a:lnTo>
                    <a:lnTo>
                      <a:pt x="43"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6" name="Freeform 19">
                <a:extLst>
                  <a:ext uri="{FF2B5EF4-FFF2-40B4-BE49-F238E27FC236}">
                    <a16:creationId xmlns:a16="http://schemas.microsoft.com/office/drawing/2014/main" id="{EC201C67-8F21-A017-C9A6-6CA4CFA33EEA}"/>
                  </a:ext>
                  <a:ext uri="{C183D7F6-B498-43B3-948B-1728B52AA6E4}">
                    <adec:decorative xmlns:adec="http://schemas.microsoft.com/office/drawing/2017/decorative" val="1"/>
                  </a:ext>
                </a:extLst>
              </p:cNvPr>
              <p:cNvSpPr>
                <a:spLocks/>
              </p:cNvSpPr>
              <p:nvPr/>
            </p:nvSpPr>
            <p:spPr bwMode="auto">
              <a:xfrm>
                <a:off x="1847851" y="6762751"/>
                <a:ext cx="838200" cy="768350"/>
              </a:xfrm>
              <a:custGeom>
                <a:avLst/>
                <a:gdLst>
                  <a:gd name="T0" fmla="*/ 415 w 528"/>
                  <a:gd name="T1" fmla="*/ 484 h 484"/>
                  <a:gd name="T2" fmla="*/ 0 w 528"/>
                  <a:gd name="T3" fmla="*/ 484 h 484"/>
                  <a:gd name="T4" fmla="*/ 0 w 528"/>
                  <a:gd name="T5" fmla="*/ 0 h 484"/>
                  <a:gd name="T6" fmla="*/ 415 w 528"/>
                  <a:gd name="T7" fmla="*/ 0 h 484"/>
                  <a:gd name="T8" fmla="*/ 528 w 528"/>
                  <a:gd name="T9" fmla="*/ 242 h 484"/>
                  <a:gd name="T10" fmla="*/ 415 w 528"/>
                  <a:gd name="T11" fmla="*/ 484 h 484"/>
                </a:gdLst>
                <a:ahLst/>
                <a:cxnLst>
                  <a:cxn ang="0">
                    <a:pos x="T0" y="T1"/>
                  </a:cxn>
                  <a:cxn ang="0">
                    <a:pos x="T2" y="T3"/>
                  </a:cxn>
                  <a:cxn ang="0">
                    <a:pos x="T4" y="T5"/>
                  </a:cxn>
                  <a:cxn ang="0">
                    <a:pos x="T6" y="T7"/>
                  </a:cxn>
                  <a:cxn ang="0">
                    <a:pos x="T8" y="T9"/>
                  </a:cxn>
                  <a:cxn ang="0">
                    <a:pos x="T10" y="T11"/>
                  </a:cxn>
                </a:cxnLst>
                <a:rect l="0" t="0" r="r" b="b"/>
                <a:pathLst>
                  <a:path w="528" h="484">
                    <a:moveTo>
                      <a:pt x="415" y="484"/>
                    </a:moveTo>
                    <a:lnTo>
                      <a:pt x="0" y="484"/>
                    </a:lnTo>
                    <a:lnTo>
                      <a:pt x="0" y="0"/>
                    </a:lnTo>
                    <a:lnTo>
                      <a:pt x="415" y="0"/>
                    </a:lnTo>
                    <a:lnTo>
                      <a:pt x="528" y="242"/>
                    </a:lnTo>
                    <a:lnTo>
                      <a:pt x="415"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7" name="Freeform 22">
                <a:extLst>
                  <a:ext uri="{FF2B5EF4-FFF2-40B4-BE49-F238E27FC236}">
                    <a16:creationId xmlns:a16="http://schemas.microsoft.com/office/drawing/2014/main" id="{FBED7A37-A054-3926-034B-2678DC07065A}"/>
                  </a:ext>
                  <a:ext uri="{C183D7F6-B498-43B3-948B-1728B52AA6E4}">
                    <adec:decorative xmlns:adec="http://schemas.microsoft.com/office/drawing/2017/decorative" val="1"/>
                  </a:ext>
                </a:extLst>
              </p:cNvPr>
              <p:cNvSpPr>
                <a:spLocks noEditPoints="1"/>
              </p:cNvSpPr>
              <p:nvPr/>
            </p:nvSpPr>
            <p:spPr bwMode="auto">
              <a:xfrm>
                <a:off x="1450989"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close/>
                    <a:moveTo>
                      <a:pt x="42" y="0"/>
                    </a:moveTo>
                    <a:lnTo>
                      <a:pt x="0" y="0"/>
                    </a:lnTo>
                    <a:lnTo>
                      <a:pt x="111" y="236"/>
                    </a:lnTo>
                    <a:lnTo>
                      <a:pt x="155" y="236"/>
                    </a:lnTo>
                    <a:lnTo>
                      <a:pt x="42"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48" name="Freeform 23">
                <a:extLst>
                  <a:ext uri="{FF2B5EF4-FFF2-40B4-BE49-F238E27FC236}">
                    <a16:creationId xmlns:a16="http://schemas.microsoft.com/office/drawing/2014/main" id="{DC799220-F98B-C20A-8D53-5C7C07E51C6B}"/>
                  </a:ext>
                  <a:ext uri="{C183D7F6-B498-43B3-948B-1728B52AA6E4}">
                    <adec:decorative xmlns:adec="http://schemas.microsoft.com/office/drawing/2017/decorative" val="1"/>
                  </a:ext>
                </a:extLst>
              </p:cNvPr>
              <p:cNvSpPr>
                <a:spLocks noEditPoints="1"/>
              </p:cNvSpPr>
              <p:nvPr/>
            </p:nvSpPr>
            <p:spPr bwMode="auto">
              <a:xfrm>
                <a:off x="1857376" y="6772276"/>
                <a:ext cx="246063" cy="752475"/>
              </a:xfrm>
              <a:custGeom>
                <a:avLst/>
                <a:gdLst>
                  <a:gd name="T0" fmla="*/ 42 w 155"/>
                  <a:gd name="T1" fmla="*/ 474 h 474"/>
                  <a:gd name="T2" fmla="*/ 0 w 155"/>
                  <a:gd name="T3" fmla="*/ 474 h 474"/>
                  <a:gd name="T4" fmla="*/ 0 w 155"/>
                  <a:gd name="T5" fmla="*/ 474 h 474"/>
                  <a:gd name="T6" fmla="*/ 42 w 155"/>
                  <a:gd name="T7" fmla="*/ 474 h 474"/>
                  <a:gd name="T8" fmla="*/ 42 w 155"/>
                  <a:gd name="T9" fmla="*/ 474 h 474"/>
                  <a:gd name="T10" fmla="*/ 42 w 155"/>
                  <a:gd name="T11" fmla="*/ 0 h 474"/>
                  <a:gd name="T12" fmla="*/ 0 w 155"/>
                  <a:gd name="T13" fmla="*/ 0 h 474"/>
                  <a:gd name="T14" fmla="*/ 111 w 155"/>
                  <a:gd name="T15" fmla="*/ 236 h 474"/>
                  <a:gd name="T16" fmla="*/ 155 w 155"/>
                  <a:gd name="T17" fmla="*/ 236 h 474"/>
                  <a:gd name="T18" fmla="*/ 42 w 155"/>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5" h="474">
                    <a:moveTo>
                      <a:pt x="42" y="474"/>
                    </a:moveTo>
                    <a:lnTo>
                      <a:pt x="0" y="474"/>
                    </a:lnTo>
                    <a:lnTo>
                      <a:pt x="0" y="474"/>
                    </a:lnTo>
                    <a:lnTo>
                      <a:pt x="42" y="474"/>
                    </a:lnTo>
                    <a:lnTo>
                      <a:pt x="42" y="474"/>
                    </a:lnTo>
                    <a:moveTo>
                      <a:pt x="42" y="0"/>
                    </a:moveTo>
                    <a:lnTo>
                      <a:pt x="0" y="0"/>
                    </a:lnTo>
                    <a:lnTo>
                      <a:pt x="111" y="236"/>
                    </a:lnTo>
                    <a:lnTo>
                      <a:pt x="155" y="236"/>
                    </a:lnTo>
                    <a:lnTo>
                      <a:pt x="42"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49" name="Freeform 25">
                <a:extLst>
                  <a:ext uri="{FF2B5EF4-FFF2-40B4-BE49-F238E27FC236}">
                    <a16:creationId xmlns:a16="http://schemas.microsoft.com/office/drawing/2014/main" id="{6E8D273A-A2F9-1038-3A65-76C36600A8C5}"/>
                  </a:ext>
                  <a:ext uri="{C183D7F6-B498-43B3-948B-1728B52AA6E4}">
                    <adec:decorative xmlns:adec="http://schemas.microsoft.com/office/drawing/2017/decorative" val="1"/>
                  </a:ext>
                </a:extLst>
              </p:cNvPr>
              <p:cNvSpPr>
                <a:spLocks/>
              </p:cNvSpPr>
              <p:nvPr/>
            </p:nvSpPr>
            <p:spPr bwMode="auto">
              <a:xfrm>
                <a:off x="1185863" y="6762751"/>
                <a:ext cx="841375" cy="768350"/>
              </a:xfrm>
              <a:custGeom>
                <a:avLst/>
                <a:gdLst>
                  <a:gd name="T0" fmla="*/ 417 w 530"/>
                  <a:gd name="T1" fmla="*/ 484 h 484"/>
                  <a:gd name="T2" fmla="*/ 0 w 530"/>
                  <a:gd name="T3" fmla="*/ 484 h 484"/>
                  <a:gd name="T4" fmla="*/ 0 w 530"/>
                  <a:gd name="T5" fmla="*/ 0 h 484"/>
                  <a:gd name="T6" fmla="*/ 417 w 530"/>
                  <a:gd name="T7" fmla="*/ 0 h 484"/>
                  <a:gd name="T8" fmla="*/ 530 w 530"/>
                  <a:gd name="T9" fmla="*/ 242 h 484"/>
                  <a:gd name="T10" fmla="*/ 417 w 530"/>
                  <a:gd name="T11" fmla="*/ 484 h 484"/>
                </a:gdLst>
                <a:ahLst/>
                <a:cxnLst>
                  <a:cxn ang="0">
                    <a:pos x="T0" y="T1"/>
                  </a:cxn>
                  <a:cxn ang="0">
                    <a:pos x="T2" y="T3"/>
                  </a:cxn>
                  <a:cxn ang="0">
                    <a:pos x="T4" y="T5"/>
                  </a:cxn>
                  <a:cxn ang="0">
                    <a:pos x="T6" y="T7"/>
                  </a:cxn>
                  <a:cxn ang="0">
                    <a:pos x="T8" y="T9"/>
                  </a:cxn>
                  <a:cxn ang="0">
                    <a:pos x="T10" y="T11"/>
                  </a:cxn>
                </a:cxnLst>
                <a:rect l="0" t="0" r="r" b="b"/>
                <a:pathLst>
                  <a:path w="530" h="484">
                    <a:moveTo>
                      <a:pt x="417" y="484"/>
                    </a:moveTo>
                    <a:lnTo>
                      <a:pt x="0" y="484"/>
                    </a:lnTo>
                    <a:lnTo>
                      <a:pt x="0" y="0"/>
                    </a:lnTo>
                    <a:lnTo>
                      <a:pt x="417" y="0"/>
                    </a:lnTo>
                    <a:lnTo>
                      <a:pt x="530" y="242"/>
                    </a:lnTo>
                    <a:lnTo>
                      <a:pt x="417"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0" name="Freeform 28">
                <a:extLst>
                  <a:ext uri="{FF2B5EF4-FFF2-40B4-BE49-F238E27FC236}">
                    <a16:creationId xmlns:a16="http://schemas.microsoft.com/office/drawing/2014/main" id="{0E40A127-08B5-99AA-8E4C-8D10BC58CC24}"/>
                  </a:ext>
                  <a:ext uri="{C183D7F6-B498-43B3-948B-1728B52AA6E4}">
                    <adec:decorative xmlns:adec="http://schemas.microsoft.com/office/drawing/2017/decorative" val="1"/>
                  </a:ext>
                </a:extLst>
              </p:cNvPr>
              <p:cNvSpPr>
                <a:spLocks noEditPoints="1"/>
              </p:cNvSpPr>
              <p:nvPr/>
            </p:nvSpPr>
            <p:spPr bwMode="auto">
              <a:xfrm>
                <a:off x="1005742"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close/>
                    <a:moveTo>
                      <a:pt x="46" y="0"/>
                    </a:moveTo>
                    <a:lnTo>
                      <a:pt x="0" y="0"/>
                    </a:lnTo>
                    <a:lnTo>
                      <a:pt x="113" y="236"/>
                    </a:lnTo>
                    <a:lnTo>
                      <a:pt x="161" y="236"/>
                    </a:lnTo>
                    <a:lnTo>
                      <a:pt x="46"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1" name="Freeform 29">
                <a:extLst>
                  <a:ext uri="{FF2B5EF4-FFF2-40B4-BE49-F238E27FC236}">
                    <a16:creationId xmlns:a16="http://schemas.microsoft.com/office/drawing/2014/main" id="{7B8BC035-824D-3541-2D2C-6175A51F00E3}"/>
                  </a:ext>
                  <a:ext uri="{C183D7F6-B498-43B3-948B-1728B52AA6E4}">
                    <adec:decorative xmlns:adec="http://schemas.microsoft.com/office/drawing/2017/decorative" val="1"/>
                  </a:ext>
                </a:extLst>
              </p:cNvPr>
              <p:cNvSpPr>
                <a:spLocks noEditPoints="1"/>
              </p:cNvSpPr>
              <p:nvPr/>
            </p:nvSpPr>
            <p:spPr bwMode="auto">
              <a:xfrm>
                <a:off x="1195388" y="6772276"/>
                <a:ext cx="255588" cy="752475"/>
              </a:xfrm>
              <a:custGeom>
                <a:avLst/>
                <a:gdLst>
                  <a:gd name="T0" fmla="*/ 46 w 161"/>
                  <a:gd name="T1" fmla="*/ 474 h 474"/>
                  <a:gd name="T2" fmla="*/ 0 w 161"/>
                  <a:gd name="T3" fmla="*/ 474 h 474"/>
                  <a:gd name="T4" fmla="*/ 0 w 161"/>
                  <a:gd name="T5" fmla="*/ 474 h 474"/>
                  <a:gd name="T6" fmla="*/ 46 w 161"/>
                  <a:gd name="T7" fmla="*/ 474 h 474"/>
                  <a:gd name="T8" fmla="*/ 46 w 161"/>
                  <a:gd name="T9" fmla="*/ 474 h 474"/>
                  <a:gd name="T10" fmla="*/ 46 w 161"/>
                  <a:gd name="T11" fmla="*/ 0 h 474"/>
                  <a:gd name="T12" fmla="*/ 0 w 161"/>
                  <a:gd name="T13" fmla="*/ 0 h 474"/>
                  <a:gd name="T14" fmla="*/ 113 w 161"/>
                  <a:gd name="T15" fmla="*/ 236 h 474"/>
                  <a:gd name="T16" fmla="*/ 161 w 161"/>
                  <a:gd name="T17" fmla="*/ 236 h 474"/>
                  <a:gd name="T18" fmla="*/ 46 w 161"/>
                  <a:gd name="T19" fmla="*/ 0 h 47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61" h="474">
                    <a:moveTo>
                      <a:pt x="46" y="474"/>
                    </a:moveTo>
                    <a:lnTo>
                      <a:pt x="0" y="474"/>
                    </a:lnTo>
                    <a:lnTo>
                      <a:pt x="0" y="474"/>
                    </a:lnTo>
                    <a:lnTo>
                      <a:pt x="46" y="474"/>
                    </a:lnTo>
                    <a:lnTo>
                      <a:pt x="46" y="474"/>
                    </a:lnTo>
                    <a:moveTo>
                      <a:pt x="46" y="0"/>
                    </a:moveTo>
                    <a:lnTo>
                      <a:pt x="0" y="0"/>
                    </a:lnTo>
                    <a:lnTo>
                      <a:pt x="113" y="236"/>
                    </a:lnTo>
                    <a:lnTo>
                      <a:pt x="161" y="236"/>
                    </a:lnTo>
                    <a:lnTo>
                      <a:pt x="4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2" name="Freeform 82">
                <a:extLst>
                  <a:ext uri="{FF2B5EF4-FFF2-40B4-BE49-F238E27FC236}">
                    <a16:creationId xmlns:a16="http://schemas.microsoft.com/office/drawing/2014/main" id="{D8CC63DF-2343-3929-0486-C625A6C8D382}"/>
                  </a:ext>
                  <a:ext uri="{C183D7F6-B498-43B3-948B-1728B52AA6E4}">
                    <adec:decorative xmlns:adec="http://schemas.microsoft.com/office/drawing/2017/decorative" val="1"/>
                  </a:ext>
                </a:extLst>
              </p:cNvPr>
              <p:cNvSpPr>
                <a:spLocks/>
              </p:cNvSpPr>
              <p:nvPr/>
            </p:nvSpPr>
            <p:spPr bwMode="auto">
              <a:xfrm>
                <a:off x="528638" y="6762751"/>
                <a:ext cx="836613" cy="768350"/>
              </a:xfrm>
              <a:custGeom>
                <a:avLst/>
                <a:gdLst>
                  <a:gd name="T0" fmla="*/ 414 w 527"/>
                  <a:gd name="T1" fmla="*/ 484 h 484"/>
                  <a:gd name="T2" fmla="*/ 0 w 527"/>
                  <a:gd name="T3" fmla="*/ 484 h 484"/>
                  <a:gd name="T4" fmla="*/ 0 w 527"/>
                  <a:gd name="T5" fmla="*/ 0 h 484"/>
                  <a:gd name="T6" fmla="*/ 414 w 527"/>
                  <a:gd name="T7" fmla="*/ 0 h 484"/>
                  <a:gd name="T8" fmla="*/ 527 w 527"/>
                  <a:gd name="T9" fmla="*/ 242 h 484"/>
                  <a:gd name="T10" fmla="*/ 414 w 527"/>
                  <a:gd name="T11" fmla="*/ 484 h 484"/>
                </a:gdLst>
                <a:ahLst/>
                <a:cxnLst>
                  <a:cxn ang="0">
                    <a:pos x="T0" y="T1"/>
                  </a:cxn>
                  <a:cxn ang="0">
                    <a:pos x="T2" y="T3"/>
                  </a:cxn>
                  <a:cxn ang="0">
                    <a:pos x="T4" y="T5"/>
                  </a:cxn>
                  <a:cxn ang="0">
                    <a:pos x="T6" y="T7"/>
                  </a:cxn>
                  <a:cxn ang="0">
                    <a:pos x="T8" y="T9"/>
                  </a:cxn>
                  <a:cxn ang="0">
                    <a:pos x="T10" y="T11"/>
                  </a:cxn>
                </a:cxnLst>
                <a:rect l="0" t="0" r="r" b="b"/>
                <a:pathLst>
                  <a:path w="527" h="484">
                    <a:moveTo>
                      <a:pt x="414" y="484"/>
                    </a:moveTo>
                    <a:lnTo>
                      <a:pt x="0" y="484"/>
                    </a:lnTo>
                    <a:lnTo>
                      <a:pt x="0" y="0"/>
                    </a:lnTo>
                    <a:lnTo>
                      <a:pt x="414" y="0"/>
                    </a:lnTo>
                    <a:lnTo>
                      <a:pt x="527" y="242"/>
                    </a:lnTo>
                    <a:lnTo>
                      <a:pt x="414" y="484"/>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3" name="Freeform 86">
                <a:extLst>
                  <a:ext uri="{FF2B5EF4-FFF2-40B4-BE49-F238E27FC236}">
                    <a16:creationId xmlns:a16="http://schemas.microsoft.com/office/drawing/2014/main" id="{46AC153A-BD26-86D4-D170-9DE10CF927B6}"/>
                  </a:ext>
                  <a:ext uri="{C183D7F6-B498-43B3-948B-1728B52AA6E4}">
                    <adec:decorative xmlns:adec="http://schemas.microsoft.com/office/drawing/2017/decorative" val="1"/>
                  </a:ext>
                </a:extLst>
              </p:cNvPr>
              <p:cNvSpPr>
                <a:spLocks/>
              </p:cNvSpPr>
              <p:nvPr/>
            </p:nvSpPr>
            <p:spPr bwMode="auto">
              <a:xfrm>
                <a:off x="1965309" y="7146926"/>
                <a:ext cx="250825" cy="377825"/>
              </a:xfrm>
              <a:custGeom>
                <a:avLst/>
                <a:gdLst>
                  <a:gd name="T0" fmla="*/ 158 w 158"/>
                  <a:gd name="T1" fmla="*/ 0 h 238"/>
                  <a:gd name="T2" fmla="*/ 111 w 158"/>
                  <a:gd name="T3" fmla="*/ 0 h 238"/>
                  <a:gd name="T4" fmla="*/ 0 w 158"/>
                  <a:gd name="T5" fmla="*/ 238 h 238"/>
                  <a:gd name="T6" fmla="*/ 43 w 158"/>
                  <a:gd name="T7" fmla="*/ 238 h 238"/>
                  <a:gd name="T8" fmla="*/ 158 w 158"/>
                  <a:gd name="T9" fmla="*/ 0 h 238"/>
                </a:gdLst>
                <a:ahLst/>
                <a:cxnLst>
                  <a:cxn ang="0">
                    <a:pos x="T0" y="T1"/>
                  </a:cxn>
                  <a:cxn ang="0">
                    <a:pos x="T2" y="T3"/>
                  </a:cxn>
                  <a:cxn ang="0">
                    <a:pos x="T4" y="T5"/>
                  </a:cxn>
                  <a:cxn ang="0">
                    <a:pos x="T6" y="T7"/>
                  </a:cxn>
                  <a:cxn ang="0">
                    <a:pos x="T8" y="T9"/>
                  </a:cxn>
                </a:cxnLst>
                <a:rect l="0" t="0" r="r" b="b"/>
                <a:pathLst>
                  <a:path w="158" h="238">
                    <a:moveTo>
                      <a:pt x="158" y="0"/>
                    </a:moveTo>
                    <a:lnTo>
                      <a:pt x="111" y="0"/>
                    </a:lnTo>
                    <a:lnTo>
                      <a:pt x="0" y="238"/>
                    </a:lnTo>
                    <a:lnTo>
                      <a:pt x="43" y="238"/>
                    </a:lnTo>
                    <a:lnTo>
                      <a:pt x="158"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5" name="Freeform 89">
                <a:extLst>
                  <a:ext uri="{FF2B5EF4-FFF2-40B4-BE49-F238E27FC236}">
                    <a16:creationId xmlns:a16="http://schemas.microsoft.com/office/drawing/2014/main" id="{B85AED54-B428-A6FA-67C0-FFBBC2978492}"/>
                  </a:ext>
                  <a:ext uri="{C183D7F6-B498-43B3-948B-1728B52AA6E4}">
                    <adec:decorative xmlns:adec="http://schemas.microsoft.com/office/drawing/2017/decorative" val="1"/>
                  </a:ext>
                </a:extLst>
              </p:cNvPr>
              <p:cNvSpPr>
                <a:spLocks/>
              </p:cNvSpPr>
              <p:nvPr/>
            </p:nvSpPr>
            <p:spPr bwMode="auto">
              <a:xfrm>
                <a:off x="1924051" y="7146926"/>
                <a:ext cx="755650" cy="377825"/>
              </a:xfrm>
              <a:custGeom>
                <a:avLst/>
                <a:gdLst>
                  <a:gd name="T0" fmla="*/ 476 w 476"/>
                  <a:gd name="T1" fmla="*/ 0 h 238"/>
                  <a:gd name="T2" fmla="*/ 113 w 476"/>
                  <a:gd name="T3" fmla="*/ 0 h 238"/>
                  <a:gd name="T4" fmla="*/ 0 w 476"/>
                  <a:gd name="T5" fmla="*/ 238 h 238"/>
                  <a:gd name="T6" fmla="*/ 365 w 476"/>
                  <a:gd name="T7" fmla="*/ 238 h 238"/>
                  <a:gd name="T8" fmla="*/ 476 w 476"/>
                  <a:gd name="T9" fmla="*/ 0 h 238"/>
                </a:gdLst>
                <a:ahLst/>
                <a:cxnLst>
                  <a:cxn ang="0">
                    <a:pos x="T0" y="T1"/>
                  </a:cxn>
                  <a:cxn ang="0">
                    <a:pos x="T2" y="T3"/>
                  </a:cxn>
                  <a:cxn ang="0">
                    <a:pos x="T4" y="T5"/>
                  </a:cxn>
                  <a:cxn ang="0">
                    <a:pos x="T6" y="T7"/>
                  </a:cxn>
                  <a:cxn ang="0">
                    <a:pos x="T8" y="T9"/>
                  </a:cxn>
                </a:cxnLst>
                <a:rect l="0" t="0" r="r" b="b"/>
                <a:pathLst>
                  <a:path w="476" h="238">
                    <a:moveTo>
                      <a:pt x="476" y="0"/>
                    </a:moveTo>
                    <a:lnTo>
                      <a:pt x="113" y="0"/>
                    </a:lnTo>
                    <a:lnTo>
                      <a:pt x="0" y="238"/>
                    </a:lnTo>
                    <a:lnTo>
                      <a:pt x="365" y="238"/>
                    </a:lnTo>
                    <a:lnTo>
                      <a:pt x="476"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6" name="Freeform 92">
                <a:extLst>
                  <a:ext uri="{FF2B5EF4-FFF2-40B4-BE49-F238E27FC236}">
                    <a16:creationId xmlns:a16="http://schemas.microsoft.com/office/drawing/2014/main" id="{E9A9A66E-C4C4-F215-67CB-DA03BFE9C079}"/>
                  </a:ext>
                  <a:ext uri="{C183D7F6-B498-43B3-948B-1728B52AA6E4}">
                    <adec:decorative xmlns:adec="http://schemas.microsoft.com/office/drawing/2017/decorative" val="1"/>
                  </a:ext>
                </a:extLst>
              </p:cNvPr>
              <p:cNvSpPr>
                <a:spLocks/>
              </p:cNvSpPr>
              <p:nvPr/>
            </p:nvSpPr>
            <p:spPr bwMode="auto">
              <a:xfrm>
                <a:off x="1450989"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57" name="Freeform 93">
                <a:extLst>
                  <a:ext uri="{FF2B5EF4-FFF2-40B4-BE49-F238E27FC236}">
                    <a16:creationId xmlns:a16="http://schemas.microsoft.com/office/drawing/2014/main" id="{86746DB9-CD6C-02C8-1B88-8C7106FB4480}"/>
                  </a:ext>
                  <a:ext uri="{C183D7F6-B498-43B3-948B-1728B52AA6E4}">
                    <adec:decorative xmlns:adec="http://schemas.microsoft.com/office/drawing/2017/decorative" val="1"/>
                  </a:ext>
                </a:extLst>
              </p:cNvPr>
              <p:cNvSpPr>
                <a:spLocks/>
              </p:cNvSpPr>
              <p:nvPr/>
            </p:nvSpPr>
            <p:spPr bwMode="auto">
              <a:xfrm>
                <a:off x="1857376" y="7146926"/>
                <a:ext cx="246063" cy="377825"/>
              </a:xfrm>
              <a:custGeom>
                <a:avLst/>
                <a:gdLst>
                  <a:gd name="T0" fmla="*/ 155 w 155"/>
                  <a:gd name="T1" fmla="*/ 0 h 238"/>
                  <a:gd name="T2" fmla="*/ 111 w 155"/>
                  <a:gd name="T3" fmla="*/ 0 h 238"/>
                  <a:gd name="T4" fmla="*/ 0 w 155"/>
                  <a:gd name="T5" fmla="*/ 238 h 238"/>
                  <a:gd name="T6" fmla="*/ 42 w 155"/>
                  <a:gd name="T7" fmla="*/ 238 h 238"/>
                  <a:gd name="T8" fmla="*/ 155 w 155"/>
                  <a:gd name="T9" fmla="*/ 0 h 238"/>
                </a:gdLst>
                <a:ahLst/>
                <a:cxnLst>
                  <a:cxn ang="0">
                    <a:pos x="T0" y="T1"/>
                  </a:cxn>
                  <a:cxn ang="0">
                    <a:pos x="T2" y="T3"/>
                  </a:cxn>
                  <a:cxn ang="0">
                    <a:pos x="T4" y="T5"/>
                  </a:cxn>
                  <a:cxn ang="0">
                    <a:pos x="T6" y="T7"/>
                  </a:cxn>
                  <a:cxn ang="0">
                    <a:pos x="T8" y="T9"/>
                  </a:cxn>
                </a:cxnLst>
                <a:rect l="0" t="0" r="r" b="b"/>
                <a:pathLst>
                  <a:path w="155" h="238">
                    <a:moveTo>
                      <a:pt x="155" y="0"/>
                    </a:moveTo>
                    <a:lnTo>
                      <a:pt x="111" y="0"/>
                    </a:lnTo>
                    <a:lnTo>
                      <a:pt x="0" y="238"/>
                    </a:lnTo>
                    <a:lnTo>
                      <a:pt x="42" y="238"/>
                    </a:lnTo>
                    <a:lnTo>
                      <a:pt x="155"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8" name="Freeform 95">
                <a:extLst>
                  <a:ext uri="{FF2B5EF4-FFF2-40B4-BE49-F238E27FC236}">
                    <a16:creationId xmlns:a16="http://schemas.microsoft.com/office/drawing/2014/main" id="{AB9662DD-C025-7AD7-DD21-AA34BB56A86F}"/>
                  </a:ext>
                  <a:ext uri="{C183D7F6-B498-43B3-948B-1728B52AA6E4}">
                    <adec:decorative xmlns:adec="http://schemas.microsoft.com/office/drawing/2017/decorative" val="1"/>
                  </a:ext>
                </a:extLst>
              </p:cNvPr>
              <p:cNvSpPr>
                <a:spLocks/>
              </p:cNvSpPr>
              <p:nvPr/>
            </p:nvSpPr>
            <p:spPr bwMode="auto">
              <a:xfrm>
                <a:off x="1268413" y="7146926"/>
                <a:ext cx="752475" cy="377825"/>
              </a:xfrm>
              <a:custGeom>
                <a:avLst/>
                <a:gdLst>
                  <a:gd name="T0" fmla="*/ 474 w 474"/>
                  <a:gd name="T1" fmla="*/ 0 h 238"/>
                  <a:gd name="T2" fmla="*/ 115 w 474"/>
                  <a:gd name="T3" fmla="*/ 0 h 238"/>
                  <a:gd name="T4" fmla="*/ 0 w 474"/>
                  <a:gd name="T5" fmla="*/ 238 h 238"/>
                  <a:gd name="T6" fmla="*/ 361 w 474"/>
                  <a:gd name="T7" fmla="*/ 238 h 238"/>
                  <a:gd name="T8" fmla="*/ 474 w 474"/>
                  <a:gd name="T9" fmla="*/ 0 h 238"/>
                </a:gdLst>
                <a:ahLst/>
                <a:cxnLst>
                  <a:cxn ang="0">
                    <a:pos x="T0" y="T1"/>
                  </a:cxn>
                  <a:cxn ang="0">
                    <a:pos x="T2" y="T3"/>
                  </a:cxn>
                  <a:cxn ang="0">
                    <a:pos x="T4" y="T5"/>
                  </a:cxn>
                  <a:cxn ang="0">
                    <a:pos x="T6" y="T7"/>
                  </a:cxn>
                  <a:cxn ang="0">
                    <a:pos x="T8" y="T9"/>
                  </a:cxn>
                </a:cxnLst>
                <a:rect l="0" t="0" r="r" b="b"/>
                <a:pathLst>
                  <a:path w="474" h="238">
                    <a:moveTo>
                      <a:pt x="474" y="0"/>
                    </a:moveTo>
                    <a:lnTo>
                      <a:pt x="115" y="0"/>
                    </a:lnTo>
                    <a:lnTo>
                      <a:pt x="0" y="238"/>
                    </a:lnTo>
                    <a:lnTo>
                      <a:pt x="361" y="238"/>
                    </a:lnTo>
                    <a:lnTo>
                      <a:pt x="47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59" name="Freeform 98">
                <a:extLst>
                  <a:ext uri="{FF2B5EF4-FFF2-40B4-BE49-F238E27FC236}">
                    <a16:creationId xmlns:a16="http://schemas.microsoft.com/office/drawing/2014/main" id="{58DB0EF9-FFC8-7A61-CB70-FC730BB4749C}"/>
                  </a:ext>
                  <a:ext uri="{C183D7F6-B498-43B3-948B-1728B52AA6E4}">
                    <adec:decorative xmlns:adec="http://schemas.microsoft.com/office/drawing/2017/decorative" val="1"/>
                  </a:ext>
                </a:extLst>
              </p:cNvPr>
              <p:cNvSpPr>
                <a:spLocks/>
              </p:cNvSpPr>
              <p:nvPr/>
            </p:nvSpPr>
            <p:spPr bwMode="auto">
              <a:xfrm>
                <a:off x="1005742"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close/>
                  </a:path>
                </a:pathLst>
              </a:custGeom>
              <a:solidFill>
                <a:schemeClr val="tx2">
                  <a:alpha val="10000"/>
                </a:schemeClr>
              </a:solidFill>
              <a:ln>
                <a:noFill/>
              </a:ln>
            </p:spPr>
            <p:txBody>
              <a:bodyPr vert="horz" wrap="square" lIns="91440" tIns="45720" rIns="91440" bIns="45720" numCol="1" anchor="t" anchorCtr="0" compatLnSpc="1">
                <a:prstTxWarp prst="textNoShape">
                  <a:avLst/>
                </a:prstTxWarp>
              </a:bodyPr>
              <a:lstStyle/>
              <a:p>
                <a:endParaRPr lang="en-US" dirty="0"/>
              </a:p>
            </p:txBody>
          </p:sp>
          <p:sp>
            <p:nvSpPr>
              <p:cNvPr id="60" name="Freeform 99">
                <a:extLst>
                  <a:ext uri="{FF2B5EF4-FFF2-40B4-BE49-F238E27FC236}">
                    <a16:creationId xmlns:a16="http://schemas.microsoft.com/office/drawing/2014/main" id="{DFF3DEAC-06FA-4C11-779F-E55CFE4A65F7}"/>
                  </a:ext>
                  <a:ext uri="{C183D7F6-B498-43B3-948B-1728B52AA6E4}">
                    <adec:decorative xmlns:adec="http://schemas.microsoft.com/office/drawing/2017/decorative" val="1"/>
                  </a:ext>
                </a:extLst>
              </p:cNvPr>
              <p:cNvSpPr>
                <a:spLocks/>
              </p:cNvSpPr>
              <p:nvPr/>
            </p:nvSpPr>
            <p:spPr bwMode="auto">
              <a:xfrm>
                <a:off x="1195388" y="7146926"/>
                <a:ext cx="255588" cy="377825"/>
              </a:xfrm>
              <a:custGeom>
                <a:avLst/>
                <a:gdLst>
                  <a:gd name="T0" fmla="*/ 161 w 161"/>
                  <a:gd name="T1" fmla="*/ 0 h 238"/>
                  <a:gd name="T2" fmla="*/ 113 w 161"/>
                  <a:gd name="T3" fmla="*/ 0 h 238"/>
                  <a:gd name="T4" fmla="*/ 0 w 161"/>
                  <a:gd name="T5" fmla="*/ 238 h 238"/>
                  <a:gd name="T6" fmla="*/ 46 w 161"/>
                  <a:gd name="T7" fmla="*/ 238 h 238"/>
                  <a:gd name="T8" fmla="*/ 161 w 161"/>
                  <a:gd name="T9" fmla="*/ 0 h 238"/>
                </a:gdLst>
                <a:ahLst/>
                <a:cxnLst>
                  <a:cxn ang="0">
                    <a:pos x="T0" y="T1"/>
                  </a:cxn>
                  <a:cxn ang="0">
                    <a:pos x="T2" y="T3"/>
                  </a:cxn>
                  <a:cxn ang="0">
                    <a:pos x="T4" y="T5"/>
                  </a:cxn>
                  <a:cxn ang="0">
                    <a:pos x="T6" y="T7"/>
                  </a:cxn>
                  <a:cxn ang="0">
                    <a:pos x="T8" y="T9"/>
                  </a:cxn>
                </a:cxnLst>
                <a:rect l="0" t="0" r="r" b="b"/>
                <a:pathLst>
                  <a:path w="161" h="238">
                    <a:moveTo>
                      <a:pt x="161" y="0"/>
                    </a:moveTo>
                    <a:lnTo>
                      <a:pt x="113" y="0"/>
                    </a:lnTo>
                    <a:lnTo>
                      <a:pt x="0" y="238"/>
                    </a:lnTo>
                    <a:lnTo>
                      <a:pt x="46" y="238"/>
                    </a:lnTo>
                    <a:lnTo>
                      <a:pt x="161"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1" name="Freeform 101">
                <a:extLst>
                  <a:ext uri="{FF2B5EF4-FFF2-40B4-BE49-F238E27FC236}">
                    <a16:creationId xmlns:a16="http://schemas.microsoft.com/office/drawing/2014/main" id="{FF3BA7FB-CED4-FFCF-5F18-8B90CF9F2104}"/>
                  </a:ext>
                  <a:ext uri="{C183D7F6-B498-43B3-948B-1728B52AA6E4}">
                    <adec:decorative xmlns:adec="http://schemas.microsoft.com/office/drawing/2017/decorative" val="1"/>
                  </a:ext>
                </a:extLst>
              </p:cNvPr>
              <p:cNvSpPr>
                <a:spLocks/>
              </p:cNvSpPr>
              <p:nvPr/>
            </p:nvSpPr>
            <p:spPr bwMode="auto">
              <a:xfrm>
                <a:off x="534988" y="7146926"/>
                <a:ext cx="825500" cy="377825"/>
              </a:xfrm>
              <a:custGeom>
                <a:avLst/>
                <a:gdLst>
                  <a:gd name="T0" fmla="*/ 520 w 520"/>
                  <a:gd name="T1" fmla="*/ 0 h 238"/>
                  <a:gd name="T2" fmla="*/ 0 w 520"/>
                  <a:gd name="T3" fmla="*/ 0 h 238"/>
                  <a:gd name="T4" fmla="*/ 0 w 520"/>
                  <a:gd name="T5" fmla="*/ 238 h 238"/>
                  <a:gd name="T6" fmla="*/ 408 w 520"/>
                  <a:gd name="T7" fmla="*/ 238 h 238"/>
                  <a:gd name="T8" fmla="*/ 520 w 520"/>
                  <a:gd name="T9" fmla="*/ 0 h 238"/>
                </a:gdLst>
                <a:ahLst/>
                <a:cxnLst>
                  <a:cxn ang="0">
                    <a:pos x="T0" y="T1"/>
                  </a:cxn>
                  <a:cxn ang="0">
                    <a:pos x="T2" y="T3"/>
                  </a:cxn>
                  <a:cxn ang="0">
                    <a:pos x="T4" y="T5"/>
                  </a:cxn>
                  <a:cxn ang="0">
                    <a:pos x="T6" y="T7"/>
                  </a:cxn>
                  <a:cxn ang="0">
                    <a:pos x="T8" y="T9"/>
                  </a:cxn>
                </a:cxnLst>
                <a:rect l="0" t="0" r="r" b="b"/>
                <a:pathLst>
                  <a:path w="520" h="238">
                    <a:moveTo>
                      <a:pt x="520" y="0"/>
                    </a:moveTo>
                    <a:lnTo>
                      <a:pt x="0" y="0"/>
                    </a:lnTo>
                    <a:lnTo>
                      <a:pt x="0" y="238"/>
                    </a:lnTo>
                    <a:lnTo>
                      <a:pt x="408" y="238"/>
                    </a:lnTo>
                    <a:lnTo>
                      <a:pt x="520"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2" name="Freeform 187">
                <a:extLst>
                  <a:ext uri="{FF2B5EF4-FFF2-40B4-BE49-F238E27FC236}">
                    <a16:creationId xmlns:a16="http://schemas.microsoft.com/office/drawing/2014/main" id="{AC47F127-4F8D-8869-43A9-321DD8012B08}"/>
                  </a:ext>
                  <a:ext uri="{C183D7F6-B498-43B3-948B-1728B52AA6E4}">
                    <adec:decorative xmlns:adec="http://schemas.microsoft.com/office/drawing/2017/decorative" val="1"/>
                  </a:ext>
                </a:extLst>
              </p:cNvPr>
              <p:cNvSpPr>
                <a:spLocks noEditPoints="1"/>
              </p:cNvSpPr>
              <p:nvPr/>
            </p:nvSpPr>
            <p:spPr bwMode="auto">
              <a:xfrm>
                <a:off x="530225" y="7151688"/>
                <a:ext cx="2155826" cy="382587"/>
              </a:xfrm>
              <a:custGeom>
                <a:avLst/>
                <a:gdLst>
                  <a:gd name="T0" fmla="*/ 1784 w 1784"/>
                  <a:gd name="T1" fmla="*/ 0 h 241"/>
                  <a:gd name="T2" fmla="*/ 0 w 1784"/>
                  <a:gd name="T3" fmla="*/ 0 h 241"/>
                  <a:gd name="T4" fmla="*/ 0 w 1784"/>
                  <a:gd name="T5" fmla="*/ 241 h 241"/>
                  <a:gd name="T6" fmla="*/ 1672 w 1784"/>
                  <a:gd name="T7" fmla="*/ 241 h 241"/>
                  <a:gd name="T8" fmla="*/ 1784 w 1784"/>
                  <a:gd name="T9" fmla="*/ 0 h 241"/>
                  <a:gd name="T10" fmla="*/ 1784 w 1784"/>
                  <a:gd name="T11" fmla="*/ 0 h 241"/>
                  <a:gd name="T12" fmla="*/ 1784 w 1784"/>
                  <a:gd name="T13" fmla="*/ 0 h 241"/>
                </a:gdLst>
                <a:ahLst/>
                <a:cxnLst>
                  <a:cxn ang="0">
                    <a:pos x="T0" y="T1"/>
                  </a:cxn>
                  <a:cxn ang="0">
                    <a:pos x="T2" y="T3"/>
                  </a:cxn>
                  <a:cxn ang="0">
                    <a:pos x="T4" y="T5"/>
                  </a:cxn>
                  <a:cxn ang="0">
                    <a:pos x="T6" y="T7"/>
                  </a:cxn>
                  <a:cxn ang="0">
                    <a:pos x="T8" y="T9"/>
                  </a:cxn>
                  <a:cxn ang="0">
                    <a:pos x="T10" y="T11"/>
                  </a:cxn>
                  <a:cxn ang="0">
                    <a:pos x="T12" y="T13"/>
                  </a:cxn>
                </a:cxnLst>
                <a:rect l="0" t="0" r="r" b="b"/>
                <a:pathLst>
                  <a:path w="1784" h="241">
                    <a:moveTo>
                      <a:pt x="1784" y="0"/>
                    </a:moveTo>
                    <a:lnTo>
                      <a:pt x="0" y="0"/>
                    </a:lnTo>
                    <a:lnTo>
                      <a:pt x="0" y="241"/>
                    </a:lnTo>
                    <a:lnTo>
                      <a:pt x="1672" y="241"/>
                    </a:lnTo>
                    <a:lnTo>
                      <a:pt x="1784" y="0"/>
                    </a:lnTo>
                    <a:moveTo>
                      <a:pt x="1784" y="0"/>
                    </a:moveTo>
                    <a:lnTo>
                      <a:pt x="1784" y="0"/>
                    </a:lnTo>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72" name="TextBox 71">
              <a:extLst>
                <a:ext uri="{FF2B5EF4-FFF2-40B4-BE49-F238E27FC236}">
                  <a16:creationId xmlns:a16="http://schemas.microsoft.com/office/drawing/2014/main" id="{7526E57F-DD96-00A2-4D89-E6041DFF7EF8}"/>
                </a:ext>
              </a:extLst>
            </p:cNvPr>
            <p:cNvSpPr txBox="1"/>
            <p:nvPr/>
          </p:nvSpPr>
          <p:spPr>
            <a:xfrm>
              <a:off x="874868" y="12440308"/>
              <a:ext cx="2133278" cy="1200329"/>
            </a:xfrm>
            <a:prstGeom prst="rect">
              <a:avLst/>
            </a:prstGeom>
            <a:noFill/>
          </p:spPr>
          <p:txBody>
            <a:bodyPr wrap="square">
              <a:spAutoFit/>
            </a:bodyPr>
            <a:lstStyle/>
            <a:p>
              <a:pPr algn="ctr"/>
              <a:r>
                <a:rPr lang="en-US" sz="1800" dirty="0">
                  <a:solidFill>
                    <a:schemeClr val="bg1"/>
                  </a:solidFill>
                  <a:latin typeface="Roboto" panose="02000000000000000000" pitchFamily="2" charset="0"/>
                  <a:ea typeface="Roboto" panose="02000000000000000000" pitchFamily="2" charset="0"/>
                </a:rPr>
                <a:t>Model begins from known historical state at single decision point</a:t>
              </a:r>
              <a:endParaRPr lang="en-US" sz="1800" dirty="0">
                <a:solidFill>
                  <a:schemeClr val="bg1"/>
                </a:solidFill>
              </a:endParaRPr>
            </a:p>
          </p:txBody>
        </p:sp>
        <p:sp>
          <p:nvSpPr>
            <p:cNvPr id="73" name="TextBox 72">
              <a:extLst>
                <a:ext uri="{FF2B5EF4-FFF2-40B4-BE49-F238E27FC236}">
                  <a16:creationId xmlns:a16="http://schemas.microsoft.com/office/drawing/2014/main" id="{613E6E0E-1E1B-F283-BBEF-D0D74C9232FE}"/>
                </a:ext>
              </a:extLst>
            </p:cNvPr>
            <p:cNvSpPr txBox="1"/>
            <p:nvPr/>
          </p:nvSpPr>
          <p:spPr>
            <a:xfrm>
              <a:off x="5106971" y="12427047"/>
              <a:ext cx="1495773" cy="1200329"/>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Target driver responds with their own pit stop</a:t>
              </a:r>
              <a:endParaRPr lang="en-US" sz="1800" dirty="0">
                <a:solidFill>
                  <a:schemeClr val="bg1"/>
                </a:solidFill>
              </a:endParaRPr>
            </a:p>
          </p:txBody>
        </p:sp>
        <p:sp>
          <p:nvSpPr>
            <p:cNvPr id="74" name="TextBox 73">
              <a:extLst>
                <a:ext uri="{FF2B5EF4-FFF2-40B4-BE49-F238E27FC236}">
                  <a16:creationId xmlns:a16="http://schemas.microsoft.com/office/drawing/2014/main" id="{B459B8BC-93A7-1E9E-8B3D-18047E10FE15}"/>
                </a:ext>
              </a:extLst>
            </p:cNvPr>
            <p:cNvSpPr txBox="1"/>
            <p:nvPr/>
          </p:nvSpPr>
          <p:spPr>
            <a:xfrm>
              <a:off x="3404974" y="12429447"/>
              <a:ext cx="1307962" cy="1200329"/>
            </a:xfrm>
            <a:prstGeom prst="rect">
              <a:avLst/>
            </a:prstGeom>
            <a:noFill/>
          </p:spPr>
          <p:txBody>
            <a:bodyPr wrap="square">
              <a:spAutoFit/>
            </a:bodyPr>
            <a:lstStyle/>
            <a:p>
              <a:pPr algn="ctr"/>
              <a:r>
                <a:rPr lang="en-US" sz="1800" dirty="0">
                  <a:solidFill>
                    <a:schemeClr val="bg1"/>
                  </a:solidFill>
                  <a:latin typeface="Roboto" panose="02000000000000000000" pitchFamily="2" charset="0"/>
                  <a:ea typeface="Roboto" panose="02000000000000000000" pitchFamily="2" charset="0"/>
                </a:rPr>
                <a:t>Attacking driver pits onto fresh tyres</a:t>
              </a:r>
              <a:endParaRPr lang="en-US" sz="1800" dirty="0">
                <a:solidFill>
                  <a:schemeClr val="bg1"/>
                </a:solidFill>
              </a:endParaRPr>
            </a:p>
          </p:txBody>
        </p:sp>
        <p:sp>
          <p:nvSpPr>
            <p:cNvPr id="75" name="TextBox 74">
              <a:extLst>
                <a:ext uri="{FF2B5EF4-FFF2-40B4-BE49-F238E27FC236}">
                  <a16:creationId xmlns:a16="http://schemas.microsoft.com/office/drawing/2014/main" id="{D230EA95-D970-F1FE-9F3F-A31A4221C364}"/>
                </a:ext>
              </a:extLst>
            </p:cNvPr>
            <p:cNvSpPr txBox="1">
              <a:spLocks/>
            </p:cNvSpPr>
            <p:nvPr/>
          </p:nvSpPr>
          <p:spPr>
            <a:xfrm>
              <a:off x="7179049" y="12557532"/>
              <a:ext cx="1838902" cy="923330"/>
            </a:xfrm>
            <a:prstGeom prst="rect">
              <a:avLst/>
            </a:prstGeom>
            <a:noFill/>
          </p:spPr>
          <p:txBody>
            <a:bodyPr wrap="square">
              <a:spAutoFit/>
            </a:bodyPr>
            <a:lstStyle/>
            <a:p>
              <a:r>
                <a:rPr lang="en-US" sz="1800" dirty="0">
                  <a:solidFill>
                    <a:schemeClr val="bg1"/>
                  </a:solidFill>
                  <a:latin typeface="Roboto" panose="02000000000000000000" pitchFamily="2" charset="0"/>
                  <a:ea typeface="Roboto" panose="02000000000000000000" pitchFamily="2" charset="0"/>
                </a:rPr>
                <a:t>Model predicts outcome G(m) and </a:t>
              </a:r>
              <a:r>
                <a:rPr lang="el-GR" sz="1800" dirty="0">
                  <a:solidFill>
                    <a:schemeClr val="bg1"/>
                  </a:solidFill>
                  <a:latin typeface="Roboto" panose="02000000000000000000" pitchFamily="2" charset="0"/>
                  <a:ea typeface="Roboto" panose="02000000000000000000" pitchFamily="2" charset="0"/>
                </a:rPr>
                <a:t>Δ</a:t>
              </a:r>
              <a:r>
                <a:rPr lang="en-GB" sz="1800" dirty="0">
                  <a:solidFill>
                    <a:schemeClr val="bg1"/>
                  </a:solidFill>
                  <a:latin typeface="Roboto" panose="02000000000000000000" pitchFamily="2" charset="0"/>
                  <a:ea typeface="Roboto" panose="02000000000000000000" pitchFamily="2" charset="0"/>
                </a:rPr>
                <a:t>G(m)</a:t>
              </a:r>
              <a:endParaRPr lang="en-US" sz="1800" dirty="0">
                <a:solidFill>
                  <a:schemeClr val="bg1"/>
                </a:solidFill>
              </a:endParaRPr>
            </a:p>
          </p:txBody>
        </p:sp>
      </p:grpSp>
      <p:sp>
        <p:nvSpPr>
          <p:cNvPr id="78" name="Rectangle 77">
            <a:extLst>
              <a:ext uri="{FF2B5EF4-FFF2-40B4-BE49-F238E27FC236}">
                <a16:creationId xmlns:a16="http://schemas.microsoft.com/office/drawing/2014/main" id="{0BD045E8-0263-BE92-B076-2F84C81C9560}"/>
              </a:ext>
            </a:extLst>
          </p:cNvPr>
          <p:cNvSpPr/>
          <p:nvPr/>
        </p:nvSpPr>
        <p:spPr>
          <a:xfrm>
            <a:off x="9107972" y="2468795"/>
            <a:ext cx="21001522" cy="11490135"/>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TextBox 78">
            <a:extLst>
              <a:ext uri="{FF2B5EF4-FFF2-40B4-BE49-F238E27FC236}">
                <a16:creationId xmlns:a16="http://schemas.microsoft.com/office/drawing/2014/main" id="{4752709A-F5F1-6AFC-BD94-7E66F766A031}"/>
              </a:ext>
            </a:extLst>
          </p:cNvPr>
          <p:cNvSpPr txBox="1"/>
          <p:nvPr/>
        </p:nvSpPr>
        <p:spPr>
          <a:xfrm>
            <a:off x="9270713" y="2617202"/>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APPLICATION</a:t>
            </a:r>
          </a:p>
        </p:txBody>
      </p:sp>
      <p:sp>
        <p:nvSpPr>
          <p:cNvPr id="82" name="Rectangle 81">
            <a:extLst>
              <a:ext uri="{FF2B5EF4-FFF2-40B4-BE49-F238E27FC236}">
                <a16:creationId xmlns:a16="http://schemas.microsoft.com/office/drawing/2014/main" id="{61132B6E-B296-EA3C-A608-DC7CEBF889A5}"/>
              </a:ext>
            </a:extLst>
          </p:cNvPr>
          <p:cNvSpPr/>
          <p:nvPr/>
        </p:nvSpPr>
        <p:spPr>
          <a:xfrm>
            <a:off x="21218235" y="14163707"/>
            <a:ext cx="8882871" cy="6791400"/>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3" name="TextBox 82">
            <a:extLst>
              <a:ext uri="{FF2B5EF4-FFF2-40B4-BE49-F238E27FC236}">
                <a16:creationId xmlns:a16="http://schemas.microsoft.com/office/drawing/2014/main" id="{6D140FF3-605D-538C-3BED-2BE19697C64A}"/>
              </a:ext>
            </a:extLst>
          </p:cNvPr>
          <p:cNvSpPr txBox="1"/>
          <p:nvPr/>
        </p:nvSpPr>
        <p:spPr>
          <a:xfrm>
            <a:off x="21440571" y="14163707"/>
            <a:ext cx="4716640" cy="707886"/>
          </a:xfrm>
          <a:prstGeom prst="rect">
            <a:avLst/>
          </a:prstGeom>
          <a:noFill/>
        </p:spPr>
        <p:txBody>
          <a:bodyPr wrap="square" rtlCol="0">
            <a:spAutoFit/>
          </a:bodyPr>
          <a:lstStyle/>
          <a:p>
            <a:r>
              <a:rPr lang="en-US" sz="4000" dirty="0">
                <a:solidFill>
                  <a:schemeClr val="accent1"/>
                </a:solidFill>
                <a:latin typeface="Roboto" panose="02000000000000000000" pitchFamily="2" charset="0"/>
                <a:ea typeface="Roboto" panose="02000000000000000000" pitchFamily="2" charset="0"/>
              </a:rPr>
              <a:t>CONCLUSIONS</a:t>
            </a:r>
          </a:p>
        </p:txBody>
      </p:sp>
      <p:pic>
        <p:nvPicPr>
          <p:cNvPr id="2" name="Picture 1" descr="National Motorsport Academy">
            <a:extLst>
              <a:ext uri="{FF2B5EF4-FFF2-40B4-BE49-F238E27FC236}">
                <a16:creationId xmlns:a16="http://schemas.microsoft.com/office/drawing/2014/main" id="{A9EA43A3-8AD3-E951-C39B-87D7CE2F1831}"/>
              </a:ext>
            </a:extLst>
          </p:cNvPr>
          <p:cNvPicPr>
            <a:picLocks noChangeAspect="1"/>
          </p:cNvPicPr>
          <p:nvPr/>
        </p:nvPicPr>
        <p:blipFill>
          <a:blip r:embed="rId4"/>
          <a:stretch>
            <a:fillRect/>
          </a:stretch>
        </p:blipFill>
        <p:spPr>
          <a:xfrm>
            <a:off x="21602619" y="122017"/>
            <a:ext cx="4485623" cy="1258343"/>
          </a:xfrm>
          <a:prstGeom prst="rect">
            <a:avLst/>
          </a:prstGeom>
        </p:spPr>
      </p:pic>
      <p:pic>
        <p:nvPicPr>
          <p:cNvPr id="3" name="Picture 2" descr="De Montfort University | Oxford International">
            <a:extLst>
              <a:ext uri="{FF2B5EF4-FFF2-40B4-BE49-F238E27FC236}">
                <a16:creationId xmlns:a16="http://schemas.microsoft.com/office/drawing/2014/main" id="{754FFBAF-AE18-443A-7D30-062BF378662A}"/>
              </a:ext>
            </a:extLst>
          </p:cNvPr>
          <p:cNvPicPr>
            <a:picLocks noChangeAspect="1"/>
          </p:cNvPicPr>
          <p:nvPr/>
        </p:nvPicPr>
        <p:blipFill>
          <a:blip r:embed="rId5"/>
          <a:stretch>
            <a:fillRect/>
          </a:stretch>
        </p:blipFill>
        <p:spPr>
          <a:xfrm>
            <a:off x="26597225" y="54052"/>
            <a:ext cx="3169005" cy="1361682"/>
          </a:xfrm>
          <a:prstGeom prst="rect">
            <a:avLst/>
          </a:prstGeom>
        </p:spPr>
      </p:pic>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486533B9-BDD2-CC2B-9D63-BE8031A3821B}"/>
                  </a:ext>
                </a:extLst>
              </p:cNvPr>
              <p:cNvSpPr txBox="1"/>
              <p:nvPr/>
            </p:nvSpPr>
            <p:spPr>
              <a:xfrm>
                <a:off x="201962" y="8426601"/>
                <a:ext cx="8750472" cy="371064"/>
              </a:xfrm>
              <a:prstGeom prst="rect">
                <a:avLst/>
              </a:prstGeom>
              <a:noFill/>
            </p:spPr>
            <p:txBody>
              <a:bodyPr wrap="square" lIns="0" tIns="0" rIns="0" bIns="0" rtlCol="0">
                <a:spAutoFit/>
              </a:bodyPr>
              <a:lstStyle/>
              <a:p>
                <a:pPr algn="ct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𝐿</m:t>
                        </m:r>
                      </m:e>
                      <m:sub>
                        <m:r>
                          <a:rPr lang="en-GB" sz="2200" b="0" i="1" smtClean="0">
                            <a:latin typeface="Cambria Math" panose="02040503050406030204" pitchFamily="18" charset="0"/>
                          </a:rPr>
                          <m:t>𝑑</m:t>
                        </m:r>
                      </m:sub>
                    </m:sSub>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𝑖</m:t>
                        </m:r>
                      </m:e>
                    </m:d>
                    <m:r>
                      <a:rPr lang="en-GB" sz="2200" b="0" i="1" smtClean="0">
                        <a:latin typeface="Cambria Math" panose="02040503050406030204" pitchFamily="18" charset="0"/>
                      </a:rPr>
                      <m:t>= </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𝐵</m:t>
                        </m:r>
                      </m:e>
                      <m:sub>
                        <m:r>
                          <a:rPr lang="en-GB" sz="2200" b="0" i="1" smtClean="0">
                            <a:latin typeface="Cambria Math" panose="02040503050406030204" pitchFamily="18" charset="0"/>
                          </a:rPr>
                          <m:t>𝑑</m:t>
                        </m:r>
                      </m:sub>
                    </m:sSub>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𝐶</m:t>
                        </m:r>
                      </m:e>
                      <m:sub>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𝑐</m:t>
                            </m:r>
                          </m:e>
                          <m:sub>
                            <m:r>
                              <a:rPr lang="en-GB" sz="2200" b="0" i="1" smtClean="0">
                                <a:latin typeface="Cambria Math" panose="02040503050406030204" pitchFamily="18" charset="0"/>
                              </a:rPr>
                              <m:t>𝑑</m:t>
                            </m:r>
                          </m:sub>
                        </m:sSub>
                        <m:r>
                          <a:rPr lang="en-GB" sz="2200" b="0" i="1" smtClean="0">
                            <a:latin typeface="Cambria Math" panose="02040503050406030204" pitchFamily="18" charset="0"/>
                          </a:rPr>
                          <m:t>(</m:t>
                        </m:r>
                        <m:r>
                          <a:rPr lang="en-GB" sz="2200" b="0" i="1" smtClean="0">
                            <a:latin typeface="Cambria Math" panose="02040503050406030204" pitchFamily="18" charset="0"/>
                          </a:rPr>
                          <m:t>𝑖</m:t>
                        </m:r>
                        <m:r>
                          <a:rPr lang="en-GB" sz="2200" b="0" i="1" smtClean="0">
                            <a:latin typeface="Cambria Math" panose="02040503050406030204" pitchFamily="18" charset="0"/>
                          </a:rPr>
                          <m:t>)</m:t>
                        </m:r>
                      </m:sub>
                    </m:sSub>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𝐷</m:t>
                        </m:r>
                      </m:e>
                      <m:sub>
                        <m:sSub>
                          <m:sSubPr>
                            <m:ctrlPr>
                              <a:rPr lang="en-GB" sz="2200" i="1">
                                <a:latin typeface="Cambria Math" panose="02040503050406030204" pitchFamily="18" charset="0"/>
                              </a:rPr>
                            </m:ctrlPr>
                          </m:sSubPr>
                          <m:e>
                            <m:r>
                              <a:rPr lang="en-GB" sz="2200" i="1">
                                <a:latin typeface="Cambria Math" panose="02040503050406030204" pitchFamily="18" charset="0"/>
                              </a:rPr>
                              <m:t>𝑐</m:t>
                            </m:r>
                          </m:e>
                          <m:sub>
                            <m:r>
                              <a:rPr lang="en-GB" sz="2200" i="1">
                                <a:latin typeface="Cambria Math" panose="02040503050406030204" pitchFamily="18" charset="0"/>
                              </a:rPr>
                              <m:t>𝑑</m:t>
                            </m:r>
                          </m:sub>
                        </m:sSub>
                        <m:r>
                          <a:rPr lang="en-GB" sz="2200" i="1">
                            <a:latin typeface="Cambria Math" panose="02040503050406030204" pitchFamily="18" charset="0"/>
                          </a:rPr>
                          <m:t>(</m:t>
                        </m:r>
                        <m:r>
                          <a:rPr lang="en-GB" sz="2200" i="1">
                            <a:latin typeface="Cambria Math" panose="02040503050406030204" pitchFamily="18" charset="0"/>
                          </a:rPr>
                          <m:t>𝑖</m:t>
                        </m:r>
                        <m:r>
                          <a:rPr lang="en-GB" sz="2200" i="1">
                            <a:latin typeface="Cambria Math" panose="02040503050406030204" pitchFamily="18" charset="0"/>
                          </a:rPr>
                          <m:t>)</m:t>
                        </m:r>
                      </m:sub>
                    </m:sSub>
                  </m:oMath>
                </a14:m>
                <a:r>
                  <a:rPr lang="en-GB" sz="2200" dirty="0"/>
                  <a:t>(</a:t>
                </a:r>
                <a14:m>
                  <m:oMath xmlns:m="http://schemas.openxmlformats.org/officeDocument/2006/math">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𝑎</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𝑊</m:t>
                        </m:r>
                      </m:e>
                      <m:sub>
                        <m:r>
                          <a:rPr lang="en-GB" sz="2200" b="0" i="1" smtClean="0">
                            <a:latin typeface="Cambria Math" panose="02040503050406030204" pitchFamily="18" charset="0"/>
                          </a:rPr>
                          <m:t>𝑐</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𝑅</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𝑄</m:t>
                        </m:r>
                      </m:e>
                      <m:sub>
                        <m:r>
                          <a:rPr lang="en-GB" sz="2200" i="1">
                            <a:latin typeface="Cambria Math" panose="02040503050406030204" pitchFamily="18" charset="0"/>
                          </a:rPr>
                          <m:t>𝑑</m:t>
                        </m:r>
                      </m:sub>
                    </m:sSub>
                    <m:d>
                      <m:dPr>
                        <m:ctrlPr>
                          <a:rPr lang="en-GB" sz="2200" i="1">
                            <a:latin typeface="Cambria Math" panose="02040503050406030204" pitchFamily="18" charset="0"/>
                          </a:rPr>
                        </m:ctrlPr>
                      </m:dPr>
                      <m:e>
                        <m:r>
                          <a:rPr lang="en-GB" sz="2200" i="1">
                            <a:latin typeface="Cambria Math" panose="02040503050406030204" pitchFamily="18" charset="0"/>
                          </a:rPr>
                          <m:t>𝑖</m:t>
                        </m:r>
                      </m:e>
                    </m:d>
                  </m:oMath>
                </a14:m>
                <a:endParaRPr lang="en-GB" sz="2200" dirty="0"/>
              </a:p>
            </p:txBody>
          </p:sp>
        </mc:Choice>
        <mc:Fallback>
          <p:sp>
            <p:nvSpPr>
              <p:cNvPr id="31" name="TextBox 30">
                <a:extLst>
                  <a:ext uri="{FF2B5EF4-FFF2-40B4-BE49-F238E27FC236}">
                    <a16:creationId xmlns:a16="http://schemas.microsoft.com/office/drawing/2014/main" id="{486533B9-BDD2-CC2B-9D63-BE8031A3821B}"/>
                  </a:ext>
                </a:extLst>
              </p:cNvPr>
              <p:cNvSpPr txBox="1">
                <a:spLocks noRot="1" noChangeAspect="1" noMove="1" noResize="1" noEditPoints="1" noAdjustHandles="1" noChangeArrowheads="1" noChangeShapeType="1" noTextEdit="1"/>
              </p:cNvSpPr>
              <p:nvPr/>
            </p:nvSpPr>
            <p:spPr>
              <a:xfrm>
                <a:off x="201962" y="8426601"/>
                <a:ext cx="8750472" cy="371064"/>
              </a:xfrm>
              <a:prstGeom prst="rect">
                <a:avLst/>
              </a:prstGeom>
              <a:blipFill>
                <a:blip r:embed="rId6"/>
                <a:stretch>
                  <a:fillRect t="-19672" b="-39344"/>
                </a:stretch>
              </a:blipFill>
            </p:spPr>
            <p:txBody>
              <a:bodyPr/>
              <a:lstStyle/>
              <a:p>
                <a:r>
                  <a:rPr lang="en-GB">
                    <a:noFill/>
                  </a:rPr>
                  <a:t> </a:t>
                </a:r>
              </a:p>
            </p:txBody>
          </p:sp>
        </mc:Fallback>
      </mc:AlternateContent>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3C7A5758-6F2F-7D5D-A2C9-D4CA158DB888}"/>
                  </a:ext>
                </a:extLst>
              </p:cNvPr>
              <p:cNvSpPr txBox="1"/>
              <p:nvPr/>
            </p:nvSpPr>
            <p:spPr>
              <a:xfrm>
                <a:off x="201961" y="8972350"/>
                <a:ext cx="8750472" cy="390363"/>
              </a:xfrm>
              <a:prstGeom prst="rect">
                <a:avLst/>
              </a:prstGeom>
              <a:noFill/>
            </p:spPr>
            <p:txBody>
              <a:bodyPr wrap="square" lIns="0" tIns="0" rIns="0" bIns="0" rtlCol="0">
                <a:spAutoFit/>
              </a:bodyPr>
              <a:lstStyle/>
              <a:p>
                <a:pPr algn="ctr"/>
                <a14:m>
                  <m:oMathPara xmlns:m="http://schemas.openxmlformats.org/officeDocument/2006/math">
                    <m:oMath>
                      <m:r>
                        <a:rPr lang="en-GB" sz="2200" b="0" i="1" smtClean="0">
                          <a:latin typeface="Cambria Math" panose="02040503050406030204" pitchFamily="18" charset="0"/>
                        </a:rPr>
                        <m:t>𝐺</m:t>
                      </m:r>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𝑚</m:t>
                          </m:r>
                        </m:e>
                      </m:d>
                      <m:r>
                        <a:rPr lang="en-GB" sz="2200" b="0" i="1" smtClean="0">
                          <a:latin typeface="Cambria Math" panose="02040503050406030204" pitchFamily="18" charset="0"/>
                        </a:rPr>
                        <m:t>= </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𝐺</m:t>
                          </m:r>
                        </m:e>
                        <m:sub>
                          <m:r>
                            <a:rPr lang="en-GB" sz="2200" b="0" i="1" smtClean="0">
                              <a:latin typeface="Cambria Math" panose="02040503050406030204" pitchFamily="18" charset="0"/>
                            </a:rPr>
                            <m:t>0</m:t>
                          </m:r>
                        </m:sub>
                      </m:sSub>
                      <m:r>
                        <a:rPr lang="en-GB" sz="2200" b="0" i="1" smtClean="0">
                          <a:latin typeface="Cambria Math" panose="02040503050406030204" pitchFamily="18" charset="0"/>
                        </a:rPr>
                        <m:t>+</m:t>
                      </m:r>
                      <m:d>
                        <m:dPr>
                          <m:begChr m:val="["/>
                          <m:endChr m:val="]"/>
                          <m:ctrlPr>
                            <a:rPr lang="en-GB" sz="2200" b="0" i="1" smtClean="0">
                              <a:latin typeface="Cambria Math" panose="02040503050406030204" pitchFamily="18" charset="0"/>
                            </a:rPr>
                          </m:ctrlPr>
                        </m:dPr>
                        <m:e>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𝑇</m:t>
                              </m:r>
                            </m:e>
                            <m:sub>
                              <m:r>
                                <a:rPr lang="en-GB" sz="2200" b="0" i="1" smtClean="0">
                                  <a:latin typeface="Cambria Math" panose="02040503050406030204" pitchFamily="18" charset="0"/>
                                </a:rPr>
                                <m:t>𝑎𝑡𝑡</m:t>
                              </m:r>
                            </m:sub>
                          </m:sSub>
                          <m:d>
                            <m:dPr>
                              <m:ctrlPr>
                                <a:rPr lang="en-GB" sz="2200" b="0" i="1" smtClean="0">
                                  <a:latin typeface="Cambria Math" panose="02040503050406030204" pitchFamily="18" charset="0"/>
                                </a:rPr>
                              </m:ctrlPr>
                            </m:dPr>
                            <m:e>
                              <m:r>
                                <a:rPr lang="en-GB" sz="2200" b="0" i="1" smtClean="0">
                                  <a:latin typeface="Cambria Math" panose="02040503050406030204" pitchFamily="18" charset="0"/>
                                </a:rPr>
                                <m:t>𝑚</m:t>
                              </m:r>
                            </m:e>
                          </m:d>
                          <m:r>
                            <a:rPr lang="en-GB" sz="2200" b="0" i="1" smtClean="0">
                              <a:latin typeface="Cambria Math" panose="02040503050406030204" pitchFamily="18" charset="0"/>
                            </a:rPr>
                            <m:t>−</m:t>
                          </m:r>
                          <m:sSub>
                            <m:sSubPr>
                              <m:ctrlPr>
                                <a:rPr lang="en-GB" sz="2200" b="0" i="1" smtClean="0">
                                  <a:latin typeface="Cambria Math" panose="02040503050406030204" pitchFamily="18" charset="0"/>
                                </a:rPr>
                              </m:ctrlPr>
                            </m:sSubPr>
                            <m:e>
                              <m:r>
                                <a:rPr lang="en-GB" sz="2200" b="0" i="1" smtClean="0">
                                  <a:latin typeface="Cambria Math" panose="02040503050406030204" pitchFamily="18" charset="0"/>
                                </a:rPr>
                                <m:t>𝑇</m:t>
                              </m:r>
                            </m:e>
                            <m:sub>
                              <m:r>
                                <a:rPr lang="en-GB" sz="2200" b="0" i="1" smtClean="0">
                                  <a:latin typeface="Cambria Math" panose="02040503050406030204" pitchFamily="18" charset="0"/>
                                </a:rPr>
                                <m:t>𝑡𝑔𝑡</m:t>
                              </m:r>
                            </m:sub>
                          </m:sSub>
                          <m:r>
                            <a:rPr lang="en-GB" sz="2200" b="0" i="1" smtClean="0">
                              <a:latin typeface="Cambria Math" panose="02040503050406030204" pitchFamily="18" charset="0"/>
                            </a:rPr>
                            <m:t>(</m:t>
                          </m:r>
                          <m:r>
                            <a:rPr lang="en-GB" sz="2200" b="0" i="1" smtClean="0">
                              <a:latin typeface="Cambria Math" panose="02040503050406030204" pitchFamily="18" charset="0"/>
                            </a:rPr>
                            <m:t>𝑚</m:t>
                          </m:r>
                          <m:r>
                            <a:rPr lang="en-GB" sz="2200" b="0" i="1" smtClean="0">
                              <a:latin typeface="Cambria Math" panose="02040503050406030204" pitchFamily="18" charset="0"/>
                            </a:rPr>
                            <m:t>)</m:t>
                          </m:r>
                        </m:e>
                      </m:d>
                    </m:oMath>
                  </m:oMathPara>
                </a14:m>
                <a:endParaRPr lang="en-GB" sz="2200" dirty="0"/>
              </a:p>
            </p:txBody>
          </p:sp>
        </mc:Choice>
        <mc:Fallback>
          <p:sp>
            <p:nvSpPr>
              <p:cNvPr id="63" name="TextBox 62">
                <a:extLst>
                  <a:ext uri="{FF2B5EF4-FFF2-40B4-BE49-F238E27FC236}">
                    <a16:creationId xmlns:a16="http://schemas.microsoft.com/office/drawing/2014/main" id="{3C7A5758-6F2F-7D5D-A2C9-D4CA158DB888}"/>
                  </a:ext>
                </a:extLst>
              </p:cNvPr>
              <p:cNvSpPr txBox="1">
                <a:spLocks noRot="1" noChangeAspect="1" noMove="1" noResize="1" noEditPoints="1" noAdjustHandles="1" noChangeArrowheads="1" noChangeShapeType="1" noTextEdit="1"/>
              </p:cNvSpPr>
              <p:nvPr/>
            </p:nvSpPr>
            <p:spPr>
              <a:xfrm>
                <a:off x="201961" y="8972350"/>
                <a:ext cx="8750472" cy="390363"/>
              </a:xfrm>
              <a:prstGeom prst="rect">
                <a:avLst/>
              </a:prstGeom>
              <a:blipFill>
                <a:blip r:embed="rId7"/>
                <a:stretch>
                  <a:fillRect b="-21875"/>
                </a:stretch>
              </a:blipFill>
            </p:spPr>
            <p:txBody>
              <a:bodyPr/>
              <a:lstStyle/>
              <a:p>
                <a:r>
                  <a:rPr lang="en-GB">
                    <a:noFill/>
                  </a:rPr>
                  <a:t> </a:t>
                </a:r>
              </a:p>
            </p:txBody>
          </p:sp>
        </mc:Fallback>
      </mc:AlternateContent>
      <p:sp>
        <p:nvSpPr>
          <p:cNvPr id="71" name="Rectangle 70">
            <a:extLst>
              <a:ext uri="{FF2B5EF4-FFF2-40B4-BE49-F238E27FC236}">
                <a16:creationId xmlns:a16="http://schemas.microsoft.com/office/drawing/2014/main" id="{5D733969-5751-DC1D-AAEF-FBE2842FA4C0}"/>
              </a:ext>
            </a:extLst>
          </p:cNvPr>
          <p:cNvSpPr/>
          <p:nvPr/>
        </p:nvSpPr>
        <p:spPr>
          <a:xfrm>
            <a:off x="165719" y="15514688"/>
            <a:ext cx="8778327" cy="4732851"/>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6" name="TextBox 85">
            <a:extLst>
              <a:ext uri="{FF2B5EF4-FFF2-40B4-BE49-F238E27FC236}">
                <a16:creationId xmlns:a16="http://schemas.microsoft.com/office/drawing/2014/main" id="{53B21E86-F48E-17E6-53DB-7AC1A11C17EE}"/>
              </a:ext>
            </a:extLst>
          </p:cNvPr>
          <p:cNvSpPr txBox="1"/>
          <p:nvPr/>
        </p:nvSpPr>
        <p:spPr>
          <a:xfrm>
            <a:off x="255361" y="15529514"/>
            <a:ext cx="8522429" cy="646331"/>
          </a:xfrm>
          <a:prstGeom prst="rect">
            <a:avLst/>
          </a:prstGeom>
          <a:noFill/>
        </p:spPr>
        <p:txBody>
          <a:bodyPr wrap="square" rtlCol="0">
            <a:spAutoFit/>
          </a:bodyPr>
          <a:lstStyle/>
          <a:p>
            <a:r>
              <a:rPr lang="en-US" sz="3600" dirty="0">
                <a:solidFill>
                  <a:schemeClr val="accent1"/>
                </a:solidFill>
                <a:latin typeface="Roboto" panose="02000000000000000000" pitchFamily="2" charset="0"/>
                <a:ea typeface="Roboto" panose="02000000000000000000" pitchFamily="2" charset="0"/>
              </a:rPr>
              <a:t>HISTORIC DATA &amp; PARAMETERISATION</a:t>
            </a:r>
          </a:p>
        </p:txBody>
      </p:sp>
      <p:sp>
        <p:nvSpPr>
          <p:cNvPr id="95" name="TextBox 94">
            <a:extLst>
              <a:ext uri="{FF2B5EF4-FFF2-40B4-BE49-F238E27FC236}">
                <a16:creationId xmlns:a16="http://schemas.microsoft.com/office/drawing/2014/main" id="{3F259A80-5999-83CB-CEE1-63B5251A5CF2}"/>
              </a:ext>
            </a:extLst>
          </p:cNvPr>
          <p:cNvSpPr txBox="1"/>
          <p:nvPr/>
        </p:nvSpPr>
        <p:spPr>
          <a:xfrm>
            <a:off x="298254" y="16191492"/>
            <a:ext cx="8472122" cy="4056047"/>
          </a:xfrm>
          <a:prstGeom prst="rect">
            <a:avLst/>
          </a:prstGeom>
          <a:noFill/>
        </p:spPr>
        <p:txBody>
          <a:bodyPr wrap="square">
            <a:spAutoFit/>
          </a:bodyPr>
          <a:lstStyle/>
          <a:p>
            <a:pPr>
              <a:lnSpc>
                <a:spcPct val="105000"/>
              </a:lnSpc>
              <a:spcAft>
                <a:spcPts val="500"/>
              </a:spcAft>
            </a:pPr>
            <a:r>
              <a:rPr lang="en-GB" sz="2200" dirty="0">
                <a:solidFill>
                  <a:srgbClr val="2D343C"/>
                </a:solidFill>
              </a:rPr>
              <a:t>Historic race data is acquired from public sources online, and decision points created based on each driver’s cumulative time at sector line two. The model only uses parameters available at the decision point and does not use any information from later in the race. The model operating window is designed around standard green-flag racing. It is not designed to operate in changing weather conditions or handle unexpected racing conditions such as safety cars. </a:t>
            </a:r>
          </a:p>
          <a:p>
            <a:pPr>
              <a:lnSpc>
                <a:spcPct val="105000"/>
              </a:lnSpc>
              <a:spcAft>
                <a:spcPts val="500"/>
              </a:spcAft>
            </a:pPr>
            <a:r>
              <a:rPr lang="en-GB" sz="2200" dirty="0">
                <a:solidFill>
                  <a:srgbClr val="2D343C"/>
                </a:solidFill>
              </a:rPr>
              <a:t>The prediction architecture is causal and does not use future race state, but historic validation parameters were retrospectively derived from full-race data to provide representative engineering inputs.</a:t>
            </a:r>
            <a:endParaRPr lang="en-GB" sz="2000" dirty="0">
              <a:solidFill>
                <a:srgbClr val="2D343C"/>
              </a:solidFill>
            </a:endParaRPr>
          </a:p>
        </p:txBody>
      </p:sp>
      <mc:AlternateContent xmlns:mc="http://schemas.openxmlformats.org/markup-compatibility/2006">
        <mc:Choice xmlns:a14="http://schemas.microsoft.com/office/drawing/2010/main" Requires="a14">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419790620"/>
                  </p:ext>
                </p:extLst>
              </p:nvPr>
            </p:nvGraphicFramePr>
            <p:xfrm>
              <a:off x="19778308" y="3045466"/>
              <a:ext cx="10083925" cy="2934194"/>
            </p:xfrm>
            <a:graphic>
              <a:graphicData uri="http://schemas.openxmlformats.org/drawingml/2006/table">
                <a:tbl>
                  <a:tblPr firstRow="1" bandRow="1">
                    <a:tableStyleId>{5C22544A-7EE6-4342-B048-85BDC9FD1C3A}</a:tableStyleId>
                  </a:tblPr>
                  <a:tblGrid>
                    <a:gridCol w="4986692">
                      <a:extLst>
                        <a:ext uri="{9D8B030D-6E8A-4147-A177-3AD203B41FA5}">
                          <a16:colId xmlns:a16="http://schemas.microsoft.com/office/drawing/2014/main" val="1303726572"/>
                        </a:ext>
                      </a:extLst>
                    </a:gridCol>
                    <a:gridCol w="1478280">
                      <a:extLst>
                        <a:ext uri="{9D8B030D-6E8A-4147-A177-3AD203B41FA5}">
                          <a16:colId xmlns:a16="http://schemas.microsoft.com/office/drawing/2014/main" val="452372859"/>
                        </a:ext>
                      </a:extLst>
                    </a:gridCol>
                    <a:gridCol w="1471867">
                      <a:extLst>
                        <a:ext uri="{9D8B030D-6E8A-4147-A177-3AD203B41FA5}">
                          <a16:colId xmlns:a16="http://schemas.microsoft.com/office/drawing/2014/main" val="3630223555"/>
                        </a:ext>
                      </a:extLst>
                    </a:gridCol>
                    <a:gridCol w="2147086">
                      <a:extLst>
                        <a:ext uri="{9D8B030D-6E8A-4147-A177-3AD203B41FA5}">
                          <a16:colId xmlns:a16="http://schemas.microsoft.com/office/drawing/2014/main" val="2743505408"/>
                        </a:ext>
                      </a:extLst>
                    </a:gridCol>
                  </a:tblGrid>
                  <a:tr h="582207">
                    <a:tc>
                      <a:txBody>
                        <a:bodyPr/>
                        <a:lstStyle/>
                        <a:p>
                          <a:pPr algn="ctr"/>
                          <a:r>
                            <a:rPr lang="en-GB" sz="2200" dirty="0"/>
                            <a:t>Race</a:t>
                          </a:r>
                        </a:p>
                      </a:txBody>
                      <a:tcPr anchor="ctr"/>
                    </a:tc>
                    <a:tc>
                      <a:txBody>
                        <a:bodyPr/>
                        <a:lstStyle/>
                        <a:p>
                          <a:pPr algn="ctr"/>
                          <a:r>
                            <a:rPr lang="en-GB" sz="2200" dirty="0"/>
                            <a:t>Predicted</a:t>
                          </a:r>
                        </a:p>
                      </a:txBody>
                      <a:tcPr anchor="ctr"/>
                    </a:tc>
                    <a:tc>
                      <a:txBody>
                        <a:bodyPr/>
                        <a:lstStyle/>
                        <a:p>
                          <a:pPr algn="ctr"/>
                          <a:r>
                            <a:rPr lang="en-GB" sz="2200" dirty="0"/>
                            <a:t>Observed</a:t>
                          </a:r>
                        </a:p>
                      </a:txBody>
                      <a:tcPr anchor="ctr"/>
                    </a:tc>
                    <a:tc>
                      <a:txBody>
                        <a:bodyPr/>
                        <a:lstStyle/>
                        <a:p>
                          <a:pPr algn="ctr"/>
                          <a:r>
                            <a:rPr lang="en-GB" sz="2200" dirty="0"/>
                            <a:t>Error at </a:t>
                          </a:r>
                          <a14:m>
                            <m:oMath xmlns:m="http://schemas.openxmlformats.org/officeDocument/2006/math">
                              <m:r>
                                <a:rPr lang="en-GB" sz="2200" b="1" i="1" smtClean="0">
                                  <a:latin typeface="Cambria Math" panose="02040503050406030204" pitchFamily="18" charset="0"/>
                                </a:rPr>
                                <m:t>𝒏</m:t>
                              </m:r>
                              <m:r>
                                <a:rPr lang="en-GB" sz="2200" b="1" i="1" smtClean="0">
                                  <a:latin typeface="Cambria Math" panose="02040503050406030204" pitchFamily="18" charset="0"/>
                                </a:rPr>
                                <m:t>+</m:t>
                              </m:r>
                              <m:r>
                                <a:rPr lang="en-GB" sz="2200" b="1" i="1" smtClean="0">
                                  <a:latin typeface="Cambria Math" panose="02040503050406030204" pitchFamily="18" charset="0"/>
                                </a:rPr>
                                <m:t>𝒐</m:t>
                              </m:r>
                            </m:oMath>
                          </a14:m>
                          <a:endParaRPr lang="en-GB" sz="2200" dirty="0"/>
                        </a:p>
                      </a:txBody>
                      <a:tcPr anchor="ctr"/>
                    </a:tc>
                    <a:extLst>
                      <a:ext uri="{0D108BD9-81ED-4DB2-BD59-A6C34878D82A}">
                        <a16:rowId xmlns:a16="http://schemas.microsoft.com/office/drawing/2014/main" val="975088111"/>
                      </a:ext>
                    </a:extLst>
                  </a:tr>
                  <a:tr h="605366">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Hungary 2023 - Norris → Piastri (L17)</a:t>
                          </a:r>
                        </a:p>
                      </a:txBody>
                      <a:tcPr anchor="ctr"/>
                    </a:tc>
                    <a:tc>
                      <a:txBody>
                        <a:bodyPr/>
                        <a:lstStyle/>
                        <a:p>
                          <a:pPr algn="ctr"/>
                          <a:r>
                            <a:rPr lang="en-GB" sz="2200" dirty="0"/>
                            <a:t>Behind</a:t>
                          </a:r>
                        </a:p>
                      </a:txBody>
                      <a:tcPr anchor="ctr"/>
                    </a:tc>
                    <a:tc>
                      <a:txBody>
                        <a:bodyPr/>
                        <a:lstStyle/>
                        <a:p>
                          <a:pPr algn="ctr"/>
                          <a:r>
                            <a:rPr lang="en-GB" sz="2200" dirty="0"/>
                            <a:t>Ahead</a:t>
                          </a:r>
                        </a:p>
                      </a:txBody>
                      <a:tcPr anchor="ctr"/>
                    </a:tc>
                    <a:tc>
                      <a:txBody>
                        <a:bodyPr/>
                        <a:lstStyle/>
                        <a:p>
                          <a:pPr algn="ctr"/>
                          <a:r>
                            <a:rPr lang="en-GB" sz="2200" dirty="0"/>
                            <a:t>1.148s</a:t>
                          </a:r>
                        </a:p>
                      </a:txBody>
                      <a:tcPr anchor="ctr"/>
                    </a:tc>
                    <a:extLst>
                      <a:ext uri="{0D108BD9-81ED-4DB2-BD59-A6C34878D82A}">
                        <a16:rowId xmlns:a16="http://schemas.microsoft.com/office/drawing/2014/main" val="1879574073"/>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Belgium 2024 - Leclerc → Hamilton (L25)</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0.024s</a:t>
                          </a:r>
                        </a:p>
                      </a:txBody>
                      <a:tcPr anchor="ctr"/>
                    </a:tc>
                    <a:extLst>
                      <a:ext uri="{0D108BD9-81ED-4DB2-BD59-A6C34878D82A}">
                        <a16:rowId xmlns:a16="http://schemas.microsoft.com/office/drawing/2014/main" val="2217810088"/>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Italy 2024 - Norris → Leclerc (L14)</a:t>
                          </a:r>
                        </a:p>
                      </a:txBody>
                      <a:tcPr anchor="ctr"/>
                    </a:tc>
                    <a:tc>
                      <a:txBody>
                        <a:bodyPr/>
                        <a:lstStyle/>
                        <a:p>
                          <a:pPr algn="ctr"/>
                          <a:r>
                            <a:rPr lang="en-GB" sz="2200" dirty="0"/>
                            <a:t>Ahead</a:t>
                          </a:r>
                        </a:p>
                      </a:txBody>
                      <a:tcPr anchor="ctr"/>
                    </a:tc>
                    <a:tc>
                      <a:txBody>
                        <a:bodyPr/>
                        <a:lstStyle/>
                        <a:p>
                          <a:pPr algn="ctr"/>
                          <a:r>
                            <a:rPr lang="en-GB" sz="2200" dirty="0"/>
                            <a:t>Ahead</a:t>
                          </a:r>
                        </a:p>
                      </a:txBody>
                      <a:tcPr anchor="ctr"/>
                    </a:tc>
                    <a:tc>
                      <a:txBody>
                        <a:bodyPr/>
                        <a:lstStyle/>
                        <a:p>
                          <a:pPr algn="ctr"/>
                          <a:r>
                            <a:rPr lang="en-GB" sz="2200" dirty="0"/>
                            <a:t>1.615s</a:t>
                          </a:r>
                        </a:p>
                      </a:txBody>
                      <a:tcPr anchor="ctr"/>
                    </a:tc>
                    <a:extLst>
                      <a:ext uri="{0D108BD9-81ED-4DB2-BD59-A6C34878D82A}">
                        <a16:rowId xmlns:a16="http://schemas.microsoft.com/office/drawing/2014/main" val="1424683176"/>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Japan 2025 - Russell → Leclerc (L19)</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0.189s</a:t>
                          </a:r>
                        </a:p>
                      </a:txBody>
                      <a:tcPr anchor="ctr"/>
                    </a:tc>
                    <a:extLst>
                      <a:ext uri="{0D108BD9-81ED-4DB2-BD59-A6C34878D82A}">
                        <a16:rowId xmlns:a16="http://schemas.microsoft.com/office/drawing/2014/main" val="2294607552"/>
                      </a:ext>
                    </a:extLst>
                  </a:tr>
                </a:tbl>
              </a:graphicData>
            </a:graphic>
          </p:graphicFrame>
        </mc:Choice>
        <mc:Fallback>
          <p:graphicFrame>
            <p:nvGraphicFramePr>
              <p:cNvPr id="96" name="Table 95">
                <a:extLst>
                  <a:ext uri="{FF2B5EF4-FFF2-40B4-BE49-F238E27FC236}">
                    <a16:creationId xmlns:a16="http://schemas.microsoft.com/office/drawing/2014/main" id="{60683BE0-60A7-7C0A-44F9-655F71C49DCE}"/>
                  </a:ext>
                </a:extLst>
              </p:cNvPr>
              <p:cNvGraphicFramePr>
                <a:graphicFrameLocks noGrp="1"/>
              </p:cNvGraphicFramePr>
              <p:nvPr>
                <p:extLst>
                  <p:ext uri="{D42A27DB-BD31-4B8C-83A1-F6EECF244321}">
                    <p14:modId xmlns:p14="http://schemas.microsoft.com/office/powerpoint/2010/main" val="419790620"/>
                  </p:ext>
                </p:extLst>
              </p:nvPr>
            </p:nvGraphicFramePr>
            <p:xfrm>
              <a:off x="19778308" y="3045466"/>
              <a:ext cx="10083925" cy="2934194"/>
            </p:xfrm>
            <a:graphic>
              <a:graphicData uri="http://schemas.openxmlformats.org/drawingml/2006/table">
                <a:tbl>
                  <a:tblPr firstRow="1" bandRow="1">
                    <a:tableStyleId>{5C22544A-7EE6-4342-B048-85BDC9FD1C3A}</a:tableStyleId>
                  </a:tblPr>
                  <a:tblGrid>
                    <a:gridCol w="4986692">
                      <a:extLst>
                        <a:ext uri="{9D8B030D-6E8A-4147-A177-3AD203B41FA5}">
                          <a16:colId xmlns:a16="http://schemas.microsoft.com/office/drawing/2014/main" val="1303726572"/>
                        </a:ext>
                      </a:extLst>
                    </a:gridCol>
                    <a:gridCol w="1478280">
                      <a:extLst>
                        <a:ext uri="{9D8B030D-6E8A-4147-A177-3AD203B41FA5}">
                          <a16:colId xmlns:a16="http://schemas.microsoft.com/office/drawing/2014/main" val="452372859"/>
                        </a:ext>
                      </a:extLst>
                    </a:gridCol>
                    <a:gridCol w="1471867">
                      <a:extLst>
                        <a:ext uri="{9D8B030D-6E8A-4147-A177-3AD203B41FA5}">
                          <a16:colId xmlns:a16="http://schemas.microsoft.com/office/drawing/2014/main" val="3630223555"/>
                        </a:ext>
                      </a:extLst>
                    </a:gridCol>
                    <a:gridCol w="2147086">
                      <a:extLst>
                        <a:ext uri="{9D8B030D-6E8A-4147-A177-3AD203B41FA5}">
                          <a16:colId xmlns:a16="http://schemas.microsoft.com/office/drawing/2014/main" val="2743505408"/>
                        </a:ext>
                      </a:extLst>
                    </a:gridCol>
                  </a:tblGrid>
                  <a:tr h="582207">
                    <a:tc>
                      <a:txBody>
                        <a:bodyPr/>
                        <a:lstStyle/>
                        <a:p>
                          <a:pPr algn="ctr"/>
                          <a:r>
                            <a:rPr lang="en-GB" sz="2200" dirty="0"/>
                            <a:t>Race</a:t>
                          </a:r>
                        </a:p>
                      </a:txBody>
                      <a:tcPr anchor="ctr"/>
                    </a:tc>
                    <a:tc>
                      <a:txBody>
                        <a:bodyPr/>
                        <a:lstStyle/>
                        <a:p>
                          <a:pPr algn="ctr"/>
                          <a:r>
                            <a:rPr lang="en-GB" sz="2200" dirty="0"/>
                            <a:t>Predicted</a:t>
                          </a:r>
                        </a:p>
                      </a:txBody>
                      <a:tcPr anchor="ctr"/>
                    </a:tc>
                    <a:tc>
                      <a:txBody>
                        <a:bodyPr/>
                        <a:lstStyle/>
                        <a:p>
                          <a:pPr algn="ctr"/>
                          <a:r>
                            <a:rPr lang="en-GB" sz="2200" dirty="0"/>
                            <a:t>Observed</a:t>
                          </a:r>
                        </a:p>
                      </a:txBody>
                      <a:tcPr anchor="ctr"/>
                    </a:tc>
                    <a:tc>
                      <a:txBody>
                        <a:bodyPr/>
                        <a:lstStyle/>
                        <a:p>
                          <a:endParaRPr lang="en-US"/>
                        </a:p>
                      </a:txBody>
                      <a:tcPr anchor="ctr">
                        <a:blipFill>
                          <a:blip r:embed="rId8"/>
                          <a:stretch>
                            <a:fillRect l="-370455" t="-1042" r="-1136" b="-410417"/>
                          </a:stretch>
                        </a:blipFill>
                      </a:tcPr>
                    </a:tc>
                    <a:extLst>
                      <a:ext uri="{0D108BD9-81ED-4DB2-BD59-A6C34878D82A}">
                        <a16:rowId xmlns:a16="http://schemas.microsoft.com/office/drawing/2014/main" val="975088111"/>
                      </a:ext>
                    </a:extLst>
                  </a:tr>
                  <a:tr h="605366">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Hungary 2023 - Norris → Piastri (L17)</a:t>
                          </a:r>
                        </a:p>
                      </a:txBody>
                      <a:tcPr anchor="ctr"/>
                    </a:tc>
                    <a:tc>
                      <a:txBody>
                        <a:bodyPr/>
                        <a:lstStyle/>
                        <a:p>
                          <a:pPr algn="ctr"/>
                          <a:r>
                            <a:rPr lang="en-GB" sz="2200" dirty="0"/>
                            <a:t>Behind</a:t>
                          </a:r>
                        </a:p>
                      </a:txBody>
                      <a:tcPr anchor="ctr"/>
                    </a:tc>
                    <a:tc>
                      <a:txBody>
                        <a:bodyPr/>
                        <a:lstStyle/>
                        <a:p>
                          <a:pPr algn="ctr"/>
                          <a:r>
                            <a:rPr lang="en-GB" sz="2200" dirty="0"/>
                            <a:t>Ahead</a:t>
                          </a:r>
                        </a:p>
                      </a:txBody>
                      <a:tcPr anchor="ctr"/>
                    </a:tc>
                    <a:tc>
                      <a:txBody>
                        <a:bodyPr/>
                        <a:lstStyle/>
                        <a:p>
                          <a:pPr algn="ctr"/>
                          <a:r>
                            <a:rPr lang="en-GB" sz="2200" dirty="0"/>
                            <a:t>1.148s</a:t>
                          </a:r>
                        </a:p>
                      </a:txBody>
                      <a:tcPr anchor="ctr"/>
                    </a:tc>
                    <a:extLst>
                      <a:ext uri="{0D108BD9-81ED-4DB2-BD59-A6C34878D82A}">
                        <a16:rowId xmlns:a16="http://schemas.microsoft.com/office/drawing/2014/main" val="1879574073"/>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Belgium 2024 - Leclerc → Hamilton (L25)</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0.024s</a:t>
                          </a:r>
                        </a:p>
                      </a:txBody>
                      <a:tcPr anchor="ctr"/>
                    </a:tc>
                    <a:extLst>
                      <a:ext uri="{0D108BD9-81ED-4DB2-BD59-A6C34878D82A}">
                        <a16:rowId xmlns:a16="http://schemas.microsoft.com/office/drawing/2014/main" val="2217810088"/>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Italy 2024 - Norris → Leclerc (L14)</a:t>
                          </a:r>
                        </a:p>
                      </a:txBody>
                      <a:tcPr anchor="ctr"/>
                    </a:tc>
                    <a:tc>
                      <a:txBody>
                        <a:bodyPr/>
                        <a:lstStyle/>
                        <a:p>
                          <a:pPr algn="ctr"/>
                          <a:r>
                            <a:rPr lang="en-GB" sz="2200" dirty="0"/>
                            <a:t>Ahead</a:t>
                          </a:r>
                        </a:p>
                      </a:txBody>
                      <a:tcPr anchor="ctr"/>
                    </a:tc>
                    <a:tc>
                      <a:txBody>
                        <a:bodyPr/>
                        <a:lstStyle/>
                        <a:p>
                          <a:pPr algn="ctr"/>
                          <a:r>
                            <a:rPr lang="en-GB" sz="2200" dirty="0"/>
                            <a:t>Ahead</a:t>
                          </a:r>
                        </a:p>
                      </a:txBody>
                      <a:tcPr anchor="ctr"/>
                    </a:tc>
                    <a:tc>
                      <a:txBody>
                        <a:bodyPr/>
                        <a:lstStyle/>
                        <a:p>
                          <a:pPr algn="ctr"/>
                          <a:r>
                            <a:rPr lang="en-GB" sz="2200" dirty="0"/>
                            <a:t>1.615s</a:t>
                          </a:r>
                        </a:p>
                      </a:txBody>
                      <a:tcPr anchor="ctr"/>
                    </a:tc>
                    <a:extLst>
                      <a:ext uri="{0D108BD9-81ED-4DB2-BD59-A6C34878D82A}">
                        <a16:rowId xmlns:a16="http://schemas.microsoft.com/office/drawing/2014/main" val="1424683176"/>
                      </a:ext>
                    </a:extLst>
                  </a:tr>
                  <a:tr h="582207">
                    <a:tc>
                      <a:txBody>
                        <a:bodyPr/>
                        <a:lstStyle/>
                        <a:p>
                          <a:pPr marL="0" marR="0" lvl="0" indent="0" algn="l" defTabSz="2270638" rtl="0" eaLnBrk="1" fontAlgn="auto" latinLnBrk="0" hangingPunct="1">
                            <a:lnSpc>
                              <a:spcPct val="100000"/>
                            </a:lnSpc>
                            <a:spcBef>
                              <a:spcPts val="0"/>
                            </a:spcBef>
                            <a:spcAft>
                              <a:spcPts val="0"/>
                            </a:spcAft>
                            <a:buClrTx/>
                            <a:buSzTx/>
                            <a:buFontTx/>
                            <a:buNone/>
                            <a:tabLst/>
                            <a:defRPr/>
                          </a:pPr>
                          <a:r>
                            <a:rPr lang="en-GB" sz="2200" dirty="0"/>
                            <a:t>Japan 2025 - Russell → Leclerc (L19)</a:t>
                          </a:r>
                        </a:p>
                      </a:txBody>
                      <a:tcPr anchor="ctr"/>
                    </a:tc>
                    <a:tc>
                      <a:txBody>
                        <a:bodyPr/>
                        <a:lstStyle/>
                        <a:p>
                          <a:pPr algn="ctr"/>
                          <a:r>
                            <a:rPr lang="en-GB" sz="2200" dirty="0"/>
                            <a:t>Behind</a:t>
                          </a:r>
                        </a:p>
                      </a:txBody>
                      <a:tcPr anchor="ctr"/>
                    </a:tc>
                    <a:tc>
                      <a:txBody>
                        <a:bodyPr/>
                        <a:lstStyle/>
                        <a:p>
                          <a:pPr algn="ctr"/>
                          <a:r>
                            <a:rPr lang="en-GB" sz="2200" dirty="0"/>
                            <a:t>Behind</a:t>
                          </a:r>
                        </a:p>
                      </a:txBody>
                      <a:tcPr anchor="ctr"/>
                    </a:tc>
                    <a:tc>
                      <a:txBody>
                        <a:bodyPr/>
                        <a:lstStyle/>
                        <a:p>
                          <a:pPr algn="ctr"/>
                          <a:r>
                            <a:rPr lang="en-GB" sz="2200" dirty="0"/>
                            <a:t>0.189s</a:t>
                          </a:r>
                        </a:p>
                      </a:txBody>
                      <a:tcPr anchor="ctr"/>
                    </a:tc>
                    <a:extLst>
                      <a:ext uri="{0D108BD9-81ED-4DB2-BD59-A6C34878D82A}">
                        <a16:rowId xmlns:a16="http://schemas.microsoft.com/office/drawing/2014/main" val="2294607552"/>
                      </a:ext>
                    </a:extLst>
                  </a:tr>
                </a:tbl>
              </a:graphicData>
            </a:graphic>
          </p:graphicFrame>
        </mc:Fallback>
      </mc:AlternateContent>
      <p:sp>
        <p:nvSpPr>
          <p:cNvPr id="98" name="TextBox 97">
            <a:extLst>
              <a:ext uri="{FF2B5EF4-FFF2-40B4-BE49-F238E27FC236}">
                <a16:creationId xmlns:a16="http://schemas.microsoft.com/office/drawing/2014/main" id="{B04A0270-1E8E-C9E4-14FE-80D2E26B3983}"/>
              </a:ext>
            </a:extLst>
          </p:cNvPr>
          <p:cNvSpPr txBox="1"/>
          <p:nvPr/>
        </p:nvSpPr>
        <p:spPr>
          <a:xfrm>
            <a:off x="21400292" y="14781466"/>
            <a:ext cx="8576667" cy="6186309"/>
          </a:xfrm>
          <a:prstGeom prst="rect">
            <a:avLst/>
          </a:prstGeom>
          <a:noFill/>
        </p:spPr>
        <p:txBody>
          <a:bodyPr wrap="square">
            <a:spAutoFit/>
          </a:bodyPr>
          <a:lstStyle/>
          <a:p>
            <a:r>
              <a:rPr lang="en-GB" sz="2200" dirty="0">
                <a:solidFill>
                  <a:srgbClr val="000000"/>
                </a:solidFill>
                <a:ea typeface="Roboto" panose="02000000000000000000" pitchFamily="2" charset="0"/>
              </a:rPr>
              <a:t> The model consistently identified whether pitting first generated </a:t>
            </a:r>
            <a:r>
              <a:rPr lang="en-GB" sz="2200" b="1" dirty="0">
                <a:solidFill>
                  <a:srgbClr val="000000"/>
                </a:solidFill>
                <a:ea typeface="Roboto" panose="02000000000000000000" pitchFamily="2" charset="0"/>
              </a:rPr>
              <a:t>a relative gain or loss across the four historic cases.</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Exact realised gaps were less reliable</a:t>
            </a:r>
            <a:r>
              <a:rPr lang="en-GB" sz="2200" dirty="0">
                <a:solidFill>
                  <a:srgbClr val="000000"/>
                </a:solidFill>
                <a:ea typeface="Roboto" panose="02000000000000000000" pitchFamily="2" charset="0"/>
              </a:rPr>
              <a:t> because fixed deterministic inputs cannot reproduce every short-term race effect.</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Initial gap and undercut gain must be considered separately</a:t>
            </a:r>
            <a:r>
              <a:rPr lang="en-GB" sz="2200" dirty="0">
                <a:solidFill>
                  <a:srgbClr val="000000"/>
                </a:solidFill>
                <a:ea typeface="Roboto" panose="02000000000000000000" pitchFamily="2" charset="0"/>
              </a:rPr>
              <a:t>: a beneficial undercut can still leave the attacker behind.</a:t>
            </a:r>
          </a:p>
          <a:p>
            <a:r>
              <a:rPr lang="en-GB" sz="2200" b="1" dirty="0">
                <a:solidFill>
                  <a:srgbClr val="000000"/>
                </a:solidFill>
                <a:ea typeface="Roboto" panose="02000000000000000000" pitchFamily="2" charset="0"/>
              </a:rPr>
              <a:t>• Important omitted or simplified effects </a:t>
            </a:r>
            <a:r>
              <a:rPr lang="en-GB" sz="2200" dirty="0">
                <a:solidFill>
                  <a:srgbClr val="000000"/>
                </a:solidFill>
                <a:ea typeface="Roboto" panose="02000000000000000000" pitchFamily="2" charset="0"/>
              </a:rPr>
              <a:t>include dynamic traffic, unequal pit-stop execution, nonlinear tyre behaviour and stochastic lap-to-lap variation.</a:t>
            </a:r>
          </a:p>
          <a:p>
            <a:r>
              <a:rPr lang="en-GB" sz="2200" dirty="0">
                <a:solidFill>
                  <a:srgbClr val="000000"/>
                </a:solidFill>
                <a:ea typeface="Roboto" panose="02000000000000000000" pitchFamily="2" charset="0"/>
              </a:rPr>
              <a:t>• </a:t>
            </a:r>
            <a:r>
              <a:rPr lang="en-GB" sz="2200" b="1" dirty="0">
                <a:solidFill>
                  <a:srgbClr val="000000"/>
                </a:solidFill>
                <a:ea typeface="Roboto" panose="02000000000000000000" pitchFamily="2" charset="0"/>
              </a:rPr>
              <a:t>The deterministic structure remains inspectable</a:t>
            </a:r>
            <a:r>
              <a:rPr lang="en-GB" sz="2200" dirty="0">
                <a:solidFill>
                  <a:srgbClr val="000000"/>
                </a:solidFill>
                <a:ea typeface="Roboto" panose="02000000000000000000" pitchFamily="2" charset="0"/>
              </a:rPr>
              <a:t>: the contribution of each model term can be traced rather than hidden inside an unexplained recommendation.</a:t>
            </a:r>
            <a:br>
              <a:rPr lang="en-GB" sz="2200" dirty="0">
                <a:solidFill>
                  <a:srgbClr val="000000"/>
                </a:solidFill>
                <a:ea typeface="Roboto" panose="02000000000000000000" pitchFamily="2" charset="0"/>
              </a:rPr>
            </a:br>
            <a:endParaRPr lang="en-GB" sz="2200" dirty="0">
              <a:solidFill>
                <a:srgbClr val="000000"/>
              </a:solidFill>
              <a:ea typeface="Roboto" panose="02000000000000000000" pitchFamily="2" charset="0"/>
            </a:endParaRPr>
          </a:p>
          <a:p>
            <a:r>
              <a:rPr lang="en-GB" sz="2200" dirty="0">
                <a:solidFill>
                  <a:srgbClr val="000000"/>
                </a:solidFill>
                <a:ea typeface="Roboto" panose="02000000000000000000" pitchFamily="2" charset="0"/>
              </a:rPr>
              <a:t>A transparent deterministic model can provide useful engineering analysis of undercut opportunities in Formula One races within a defined operating domain. It is best treated as </a:t>
            </a:r>
            <a:r>
              <a:rPr lang="en-GB" sz="2200" b="1" dirty="0">
                <a:solidFill>
                  <a:srgbClr val="000000"/>
                </a:solidFill>
                <a:ea typeface="Roboto" panose="02000000000000000000" pitchFamily="2" charset="0"/>
              </a:rPr>
              <a:t>an analysis tool to support an engineer’s decision-making process</a:t>
            </a:r>
            <a:r>
              <a:rPr lang="en-GB" sz="2200" dirty="0">
                <a:solidFill>
                  <a:srgbClr val="000000"/>
                </a:solidFill>
                <a:ea typeface="Roboto" panose="02000000000000000000" pitchFamily="2" charset="0"/>
              </a:rPr>
              <a:t>, not a complete race strategy simulator, or an autonomous pit stop recommendation.</a:t>
            </a:r>
            <a:endParaRPr lang="en-US" sz="2200" dirty="0">
              <a:ea typeface="Roboto" panose="02000000000000000000" pitchFamily="2" charset="0"/>
            </a:endParaRPr>
          </a:p>
        </p:txBody>
      </p:sp>
      <mc:AlternateContent xmlns:mc="http://schemas.openxmlformats.org/markup-compatibility/2006">
        <mc:Choice xmlns:a14="http://schemas.microsoft.com/office/drawing/2010/main" Requires="a14">
          <p:graphicFrame>
            <p:nvGraphicFramePr>
              <p:cNvPr id="106" name="Chart 105">
                <a:extLst>
                  <a:ext uri="{FF2B5EF4-FFF2-40B4-BE49-F238E27FC236}">
                    <a16:creationId xmlns:a16="http://schemas.microsoft.com/office/drawing/2014/main" id="{03712FD7-7E7C-286C-9198-E902F9533B71}"/>
                  </a:ext>
                </a:extLst>
              </p:cNvPr>
              <p:cNvGraphicFramePr/>
              <p:nvPr>
                <p:extLst>
                  <p:ext uri="{D42A27DB-BD31-4B8C-83A1-F6EECF244321}">
                    <p14:modId xmlns:p14="http://schemas.microsoft.com/office/powerpoint/2010/main" val="989793396"/>
                  </p:ext>
                </p:extLst>
              </p:nvPr>
            </p:nvGraphicFramePr>
            <p:xfrm>
              <a:off x="19778309" y="6768809"/>
              <a:ext cx="10181516" cy="7036707"/>
            </p:xfrm>
            <a:graphic>
              <a:graphicData uri="http://schemas.openxmlformats.org/drawingml/2006/chart">
                <c:chart xmlns:c="http://schemas.openxmlformats.org/drawingml/2006/chart" xmlns:r="http://schemas.openxmlformats.org/officeDocument/2006/relationships" r:id="rId9"/>
              </a:graphicData>
            </a:graphic>
          </p:graphicFrame>
        </mc:Choice>
        <mc:Fallback>
          <p:graphicFrame>
            <p:nvGraphicFramePr>
              <p:cNvPr id="106" name="Chart 105">
                <a:extLst>
                  <a:ext uri="{FF2B5EF4-FFF2-40B4-BE49-F238E27FC236}">
                    <a16:creationId xmlns:a16="http://schemas.microsoft.com/office/drawing/2014/main" id="{03712FD7-7E7C-286C-9198-E902F9533B71}"/>
                  </a:ext>
                </a:extLst>
              </p:cNvPr>
              <p:cNvGraphicFramePr/>
              <p:nvPr>
                <p:extLst>
                  <p:ext uri="{D42A27DB-BD31-4B8C-83A1-F6EECF244321}">
                    <p14:modId xmlns:p14="http://schemas.microsoft.com/office/powerpoint/2010/main" val="989793396"/>
                  </p:ext>
                </p:extLst>
              </p:nvPr>
            </p:nvGraphicFramePr>
            <p:xfrm>
              <a:off x="19778309" y="6768809"/>
              <a:ext cx="10181516" cy="7036707"/>
            </p:xfrm>
            <a:graphic>
              <a:graphicData uri="http://schemas.openxmlformats.org/drawingml/2006/chart">
                <c:chart xmlns:c="http://schemas.openxmlformats.org/drawingml/2006/chart" xmlns:r="http://schemas.openxmlformats.org/officeDocument/2006/relationships" r:id="rId9"/>
              </a:graphicData>
            </a:graphic>
          </p:graphicFrame>
        </mc:Fallback>
      </mc:AlternateContent>
      <p:sp>
        <p:nvSpPr>
          <p:cNvPr id="17" name="TextBox 16">
            <a:extLst>
              <a:ext uri="{FF2B5EF4-FFF2-40B4-BE49-F238E27FC236}">
                <a16:creationId xmlns:a16="http://schemas.microsoft.com/office/drawing/2014/main" id="{A1E01E25-3AD8-70D9-F79A-E195D2E31F04}"/>
              </a:ext>
            </a:extLst>
          </p:cNvPr>
          <p:cNvSpPr txBox="1"/>
          <p:nvPr/>
        </p:nvSpPr>
        <p:spPr>
          <a:xfrm>
            <a:off x="9275953" y="3043332"/>
            <a:ext cx="10502355" cy="1785104"/>
          </a:xfrm>
          <a:prstGeom prst="rect">
            <a:avLst/>
          </a:prstGeom>
          <a:noFill/>
        </p:spPr>
        <p:txBody>
          <a:bodyPr wrap="square">
            <a:spAutoFit/>
          </a:bodyPr>
          <a:lstStyle/>
          <a:p>
            <a:r>
              <a:rPr lang="en-GB" sz="2200" dirty="0">
                <a:solidFill>
                  <a:srgbClr val="000000"/>
                </a:solidFill>
                <a:ea typeface="Roboto" panose="02000000000000000000" pitchFamily="2" charset="0"/>
              </a:rPr>
              <a:t>A </a:t>
            </a:r>
            <a:r>
              <a:rPr lang="en-GB" sz="2200" b="1" dirty="0">
                <a:solidFill>
                  <a:srgbClr val="000000"/>
                </a:solidFill>
                <a:ea typeface="Roboto" panose="02000000000000000000" pitchFamily="2" charset="0"/>
              </a:rPr>
              <a:t>C#/.NET WPF application </a:t>
            </a:r>
            <a:r>
              <a:rPr lang="en-GB" sz="2200" dirty="0">
                <a:solidFill>
                  <a:srgbClr val="000000"/>
                </a:solidFill>
                <a:ea typeface="Roboto" panose="02000000000000000000" pitchFamily="2" charset="0"/>
              </a:rPr>
              <a:t>was written to run predictions on single drivers and scan across full race distances and multiple drivers. Data is retrieved from the </a:t>
            </a:r>
            <a:r>
              <a:rPr lang="en-GB" sz="2200" b="1" dirty="0">
                <a:solidFill>
                  <a:srgbClr val="000000"/>
                </a:solidFill>
                <a:ea typeface="Roboto" panose="02000000000000000000" pitchFamily="2" charset="0"/>
              </a:rPr>
              <a:t>OpenF1 API </a:t>
            </a:r>
            <a:r>
              <a:rPr lang="en-GB" sz="2200" dirty="0">
                <a:solidFill>
                  <a:srgbClr val="000000"/>
                </a:solidFill>
                <a:ea typeface="Roboto" panose="02000000000000000000" pitchFamily="2" charset="0"/>
              </a:rPr>
              <a:t>[2]. Results are displayed on a race-trace visualisation which exposes intermediate model behaviour. Prediction logic was kept separate from data retrieval and presentation to assist verification and allow easy future expansion.</a:t>
            </a:r>
            <a:endParaRPr lang="en-US" sz="2200" dirty="0">
              <a:ea typeface="Roboto" panose="02000000000000000000" pitchFamily="2" charset="0"/>
            </a:endParaRPr>
          </a:p>
        </p:txBody>
      </p:sp>
      <p:sp>
        <p:nvSpPr>
          <p:cNvPr id="15" name="TextBox 14">
            <a:extLst>
              <a:ext uri="{FF2B5EF4-FFF2-40B4-BE49-F238E27FC236}">
                <a16:creationId xmlns:a16="http://schemas.microsoft.com/office/drawing/2014/main" id="{0147D99D-7397-2235-FA32-139A8079361F}"/>
              </a:ext>
            </a:extLst>
          </p:cNvPr>
          <p:cNvSpPr txBox="1"/>
          <p:nvPr/>
        </p:nvSpPr>
        <p:spPr>
          <a:xfrm>
            <a:off x="9292561" y="8017021"/>
            <a:ext cx="10340369" cy="2462213"/>
          </a:xfrm>
          <a:prstGeom prst="rect">
            <a:avLst/>
          </a:prstGeom>
          <a:noFill/>
        </p:spPr>
        <p:txBody>
          <a:bodyPr wrap="square">
            <a:spAutoFit/>
          </a:bodyPr>
          <a:lstStyle/>
          <a:p>
            <a:r>
              <a:rPr lang="en-GB" sz="2200" dirty="0">
                <a:solidFill>
                  <a:srgbClr val="000000"/>
                </a:solidFill>
                <a:ea typeface="Roboto" panose="02000000000000000000" pitchFamily="2" charset="0"/>
              </a:rPr>
              <a:t>Historic cases were selected to include successful and unsuccessful undercut attempts, one- or two-lap responses, and different tyre-state transitions. The model matched </a:t>
            </a:r>
            <a:r>
              <a:rPr lang="en-GB" sz="2200" b="1" dirty="0">
                <a:solidFill>
                  <a:srgbClr val="000000"/>
                </a:solidFill>
                <a:ea typeface="Roboto" panose="02000000000000000000" pitchFamily="2" charset="0"/>
              </a:rPr>
              <a:t>3 of 4 classifications </a:t>
            </a:r>
            <a:r>
              <a:rPr lang="en-GB" sz="2200" dirty="0">
                <a:solidFill>
                  <a:srgbClr val="000000"/>
                </a:solidFill>
                <a:ea typeface="Roboto" panose="02000000000000000000" pitchFamily="2" charset="0"/>
              </a:rPr>
              <a:t>but </a:t>
            </a:r>
            <a:r>
              <a:rPr lang="en-GB" sz="2200" b="1" dirty="0">
                <a:solidFill>
                  <a:srgbClr val="000000"/>
                </a:solidFill>
                <a:ea typeface="Roboto" panose="02000000000000000000" pitchFamily="2" charset="0"/>
              </a:rPr>
              <a:t>4 of 4 directions of change</a:t>
            </a:r>
            <a:r>
              <a:rPr lang="en-GB" sz="2200" dirty="0">
                <a:solidFill>
                  <a:srgbClr val="000000"/>
                </a:solidFill>
                <a:ea typeface="Roboto" panose="02000000000000000000" pitchFamily="2" charset="0"/>
              </a:rPr>
              <a:t>. Belgium provided the strongest immediate numerical agreement with </a:t>
            </a:r>
            <a:r>
              <a:rPr lang="en-GB" sz="2200" b="1" dirty="0">
                <a:solidFill>
                  <a:srgbClr val="000000"/>
                </a:solidFill>
                <a:ea typeface="Roboto" panose="02000000000000000000" pitchFamily="2" charset="0"/>
              </a:rPr>
              <a:t>0.024 s error at </a:t>
            </a:r>
            <a:r>
              <a:rPr lang="en-GB" sz="2200" b="1" dirty="0" err="1">
                <a:solidFill>
                  <a:srgbClr val="000000"/>
                </a:solidFill>
                <a:ea typeface="Roboto" panose="02000000000000000000" pitchFamily="2" charset="0"/>
              </a:rPr>
              <a:t>n+o</a:t>
            </a:r>
            <a:r>
              <a:rPr lang="en-GB" sz="2200" dirty="0">
                <a:solidFill>
                  <a:srgbClr val="000000"/>
                </a:solidFill>
                <a:ea typeface="Roboto" panose="02000000000000000000" pitchFamily="2" charset="0"/>
              </a:rPr>
              <a:t>; Hungary predicted the correct direction of relative gain but underestimated its magnitude, resulting in an incorrect classification. The discrepancy was partly attributed to real-world factors such as differences in stationary pit stop time.</a:t>
            </a:r>
          </a:p>
        </p:txBody>
      </p:sp>
      <p:sp>
        <p:nvSpPr>
          <p:cNvPr id="18" name="TextBox 17">
            <a:extLst>
              <a:ext uri="{FF2B5EF4-FFF2-40B4-BE49-F238E27FC236}">
                <a16:creationId xmlns:a16="http://schemas.microsoft.com/office/drawing/2014/main" id="{4687DC98-3B3C-ECDA-B1AD-C19109EA7DC4}"/>
              </a:ext>
            </a:extLst>
          </p:cNvPr>
          <p:cNvSpPr txBox="1"/>
          <p:nvPr/>
        </p:nvSpPr>
        <p:spPr>
          <a:xfrm>
            <a:off x="9311199" y="5492382"/>
            <a:ext cx="10168925" cy="2123658"/>
          </a:xfrm>
          <a:prstGeom prst="rect">
            <a:avLst/>
          </a:prstGeom>
          <a:noFill/>
        </p:spPr>
        <p:txBody>
          <a:bodyPr wrap="square">
            <a:spAutoFit/>
          </a:bodyPr>
          <a:lstStyle/>
          <a:p>
            <a:r>
              <a:rPr lang="en-GB" sz="2200" dirty="0">
                <a:solidFill>
                  <a:srgbClr val="000000"/>
                </a:solidFill>
                <a:ea typeface="Roboto" panose="02000000000000000000" pitchFamily="2" charset="0"/>
              </a:rPr>
              <a:t>Automated testing was written to verify the software implementation, with </a:t>
            </a:r>
            <a:r>
              <a:rPr lang="en-GB" sz="2200" b="1" dirty="0">
                <a:solidFill>
                  <a:srgbClr val="000000"/>
                </a:solidFill>
                <a:ea typeface="Roboto" panose="02000000000000000000" pitchFamily="2" charset="0"/>
              </a:rPr>
              <a:t>460 tests </a:t>
            </a:r>
            <a:r>
              <a:rPr lang="en-GB" sz="2200" dirty="0">
                <a:solidFill>
                  <a:srgbClr val="000000"/>
                </a:solidFill>
                <a:ea typeface="Roboto" panose="02000000000000000000" pitchFamily="2" charset="0"/>
              </a:rPr>
              <a:t>and </a:t>
            </a:r>
            <a:r>
              <a:rPr lang="en-GB" sz="2200" b="1" dirty="0">
                <a:solidFill>
                  <a:srgbClr val="000000"/>
                </a:solidFill>
                <a:ea typeface="Roboto" panose="02000000000000000000" pitchFamily="2" charset="0"/>
              </a:rPr>
              <a:t>37 research-focused cases</a:t>
            </a:r>
            <a:r>
              <a:rPr lang="en-GB" sz="2200" dirty="0">
                <a:solidFill>
                  <a:srgbClr val="000000"/>
                </a:solidFill>
                <a:ea typeface="Roboto" panose="02000000000000000000" pitchFamily="2" charset="0"/>
              </a:rPr>
              <a:t> giving </a:t>
            </a:r>
            <a:r>
              <a:rPr lang="en-GB" sz="2200" b="1" dirty="0">
                <a:solidFill>
                  <a:srgbClr val="000000"/>
                </a:solidFill>
                <a:ea typeface="Roboto" panose="02000000000000000000" pitchFamily="2" charset="0"/>
              </a:rPr>
              <a:t>95.6% core line  coverage </a:t>
            </a:r>
            <a:r>
              <a:rPr lang="en-GB" sz="2200" dirty="0">
                <a:solidFill>
                  <a:srgbClr val="000000"/>
                </a:solidFill>
                <a:ea typeface="Roboto" panose="02000000000000000000" pitchFamily="2" charset="0"/>
              </a:rPr>
              <a:t>and </a:t>
            </a:r>
            <a:r>
              <a:rPr lang="en-GB" sz="2200" b="1" dirty="0">
                <a:solidFill>
                  <a:srgbClr val="000000"/>
                </a:solidFill>
                <a:ea typeface="Roboto" panose="02000000000000000000" pitchFamily="2" charset="0"/>
              </a:rPr>
              <a:t>89.7% branch coverage</a:t>
            </a:r>
            <a:r>
              <a:rPr lang="en-GB" sz="2200" dirty="0">
                <a:solidFill>
                  <a:srgbClr val="000000"/>
                </a:solidFill>
                <a:ea typeface="Roboto" panose="02000000000000000000" pitchFamily="2" charset="0"/>
              </a:rPr>
              <a:t>. Independent calculations matched software outputs, and tests cover lap-time terms, pit sequence, tyre-age progression, sign convention, G(m) and ΔG(m), classification boundaries, limiting cases and deterministic repeatability.</a:t>
            </a:r>
          </a:p>
        </p:txBody>
      </p:sp>
      <mc:AlternateContent xmlns:mc="http://schemas.openxmlformats.org/markup-compatibility/2006">
        <mc:Choice xmlns:a14="http://schemas.microsoft.com/office/drawing/2010/main" Requires="a14">
          <p:sp>
            <p:nvSpPr>
              <p:cNvPr id="24" name="TextBox 23">
                <a:extLst>
                  <a:ext uri="{FF2B5EF4-FFF2-40B4-BE49-F238E27FC236}">
                    <a16:creationId xmlns:a16="http://schemas.microsoft.com/office/drawing/2014/main" id="{C228FA38-5F17-D49C-BEF5-DDCFC5310ACB}"/>
                  </a:ext>
                </a:extLst>
              </p:cNvPr>
              <p:cNvSpPr txBox="1"/>
              <p:nvPr/>
            </p:nvSpPr>
            <p:spPr>
              <a:xfrm>
                <a:off x="9262151" y="10900182"/>
                <a:ext cx="10340369" cy="2462213"/>
              </a:xfrm>
              <a:prstGeom prst="rect">
                <a:avLst/>
              </a:prstGeom>
              <a:noFill/>
            </p:spPr>
            <p:txBody>
              <a:bodyPr wrap="square">
                <a:spAutoFit/>
              </a:bodyPr>
              <a:lstStyle/>
              <a:p>
                <a:r>
                  <a:rPr lang="en-GB" sz="2200" dirty="0">
                    <a:solidFill>
                      <a:srgbClr val="000000"/>
                    </a:solidFill>
                    <a:ea typeface="Roboto" panose="02000000000000000000" pitchFamily="2" charset="0"/>
                  </a:rPr>
                  <a:t>One-at-a-time sweeps [3] tested the impact of compound pace, degradation, target response offset, and relative driver/car pace. </a:t>
                </a:r>
                <a:r>
                  <a:rPr lang="en-GB" sz="2200" b="1" dirty="0">
                    <a:solidFill>
                      <a:srgbClr val="000000"/>
                    </a:solidFill>
                    <a:ea typeface="Roboto" panose="02000000000000000000" pitchFamily="2" charset="0"/>
                  </a:rPr>
                  <a:t>Italy 2024 showed particularly strong sensitivity to compound pace offset</a:t>
                </a:r>
                <a:r>
                  <a:rPr lang="en-GB" sz="2200" dirty="0">
                    <a:solidFill>
                      <a:srgbClr val="000000"/>
                    </a:solidFill>
                    <a:ea typeface="Roboto" panose="02000000000000000000" pitchFamily="2" charset="0"/>
                  </a:rPr>
                  <a:t> (shown in graph to the right): varying Hard-compound pace alone can move the result into Marginal; the </a:t>
                </a:r>
                <a:r>
                  <a:rPr lang="en-GB" sz="2200" b="1" dirty="0">
                    <a:solidFill>
                      <a:srgbClr val="000000"/>
                    </a:solidFill>
                    <a:ea typeface="Roboto" panose="02000000000000000000" pitchFamily="2" charset="0"/>
                  </a:rPr>
                  <a:t>Ahead-Marginal crossover occurs at </a:t>
                </a:r>
                <a14:m>
                  <m:oMath xmlns:m="http://schemas.openxmlformats.org/officeDocument/2006/math">
                    <m:sSub>
                      <m:sSubPr>
                        <m:ctrlPr>
                          <a:rPr lang="en-GB" sz="2200" b="1" i="1" smtClean="0">
                            <a:solidFill>
                              <a:srgbClr val="000000"/>
                            </a:solidFill>
                            <a:latin typeface="Cambria Math" panose="02040503050406030204" pitchFamily="18" charset="0"/>
                            <a:ea typeface="Roboto" panose="02000000000000000000" pitchFamily="2" charset="0"/>
                          </a:rPr>
                        </m:ctrlPr>
                      </m:sSubPr>
                      <m:e>
                        <m:r>
                          <a:rPr lang="en-GB" sz="2200" b="1" i="1" smtClean="0">
                            <a:solidFill>
                              <a:srgbClr val="000000"/>
                            </a:solidFill>
                            <a:latin typeface="Cambria Math" panose="02040503050406030204" pitchFamily="18" charset="0"/>
                            <a:ea typeface="Roboto" panose="02000000000000000000" pitchFamily="2" charset="0"/>
                          </a:rPr>
                          <m:t>𝑪</m:t>
                        </m:r>
                      </m:e>
                      <m:sub>
                        <m:r>
                          <a:rPr lang="en-GB" sz="2200" b="1" i="1" smtClean="0">
                            <a:solidFill>
                              <a:srgbClr val="000000"/>
                            </a:solidFill>
                            <a:latin typeface="Cambria Math" panose="02040503050406030204" pitchFamily="18" charset="0"/>
                            <a:ea typeface="Roboto" panose="02000000000000000000" pitchFamily="2" charset="0"/>
                          </a:rPr>
                          <m:t>𝑯</m:t>
                        </m:r>
                      </m:sub>
                    </m:sSub>
                    <m:r>
                      <a:rPr lang="en-GB" sz="2200" b="1" i="1" smtClean="0">
                        <a:solidFill>
                          <a:srgbClr val="000000"/>
                        </a:solidFill>
                        <a:latin typeface="Cambria Math" panose="02040503050406030204" pitchFamily="18" charset="0"/>
                        <a:ea typeface="Cambria Math" panose="02040503050406030204" pitchFamily="18" charset="0"/>
                      </a:rPr>
                      <m:t>≈−</m:t>
                    </m:r>
                    <m:r>
                      <a:rPr lang="en-GB" sz="2200" b="1" i="1" smtClean="0">
                        <a:solidFill>
                          <a:srgbClr val="000000"/>
                        </a:solidFill>
                        <a:latin typeface="Cambria Math" panose="02040503050406030204" pitchFamily="18" charset="0"/>
                        <a:ea typeface="Cambria Math" panose="02040503050406030204" pitchFamily="18" charset="0"/>
                      </a:rPr>
                      <m:t>𝟎</m:t>
                    </m:r>
                    <m:r>
                      <a:rPr lang="en-GB" sz="2200" b="1" i="1" smtClean="0">
                        <a:solidFill>
                          <a:srgbClr val="000000"/>
                        </a:solidFill>
                        <a:latin typeface="Cambria Math" panose="02040503050406030204" pitchFamily="18" charset="0"/>
                        <a:ea typeface="Cambria Math" panose="02040503050406030204" pitchFamily="18" charset="0"/>
                      </a:rPr>
                      <m:t>.</m:t>
                    </m:r>
                    <m:r>
                      <a:rPr lang="en-GB" sz="2200" b="1" i="1" smtClean="0">
                        <a:solidFill>
                          <a:srgbClr val="000000"/>
                        </a:solidFill>
                        <a:latin typeface="Cambria Math" panose="02040503050406030204" pitchFamily="18" charset="0"/>
                        <a:ea typeface="Cambria Math" panose="02040503050406030204" pitchFamily="18" charset="0"/>
                      </a:rPr>
                      <m:t>𝟎𝟑𝟕</m:t>
                    </m:r>
                    <m:r>
                      <a:rPr lang="en-GB" sz="2200" b="1" i="1" smtClean="0">
                        <a:solidFill>
                          <a:srgbClr val="000000"/>
                        </a:solidFill>
                        <a:latin typeface="Cambria Math" panose="02040503050406030204" pitchFamily="18" charset="0"/>
                        <a:ea typeface="Cambria Math" panose="02040503050406030204" pitchFamily="18" charset="0"/>
                      </a:rPr>
                      <m:t>𝒔</m:t>
                    </m:r>
                  </m:oMath>
                </a14:m>
                <a:r>
                  <a:rPr lang="en-GB" sz="2200" b="1" dirty="0">
                    <a:solidFill>
                      <a:srgbClr val="000000"/>
                    </a:solidFill>
                    <a:ea typeface="Roboto" panose="02000000000000000000" pitchFamily="2" charset="0"/>
                  </a:rPr>
                  <a:t>/lap</a:t>
                </a:r>
                <a:r>
                  <a:rPr lang="en-GB" sz="2200" dirty="0">
                    <a:solidFill>
                      <a:srgbClr val="000000"/>
                    </a:solidFill>
                    <a:ea typeface="Roboto" panose="02000000000000000000" pitchFamily="2" charset="0"/>
                  </a:rPr>
                  <a:t>. Analysis suggested that parameter influence is scenario-dependent; therefore, the research does not claim to create a universal sensitivity ranking of parameters and their influence.</a:t>
                </a:r>
                <a:endParaRPr lang="en-US" sz="2200" dirty="0">
                  <a:ea typeface="Roboto" panose="02000000000000000000" pitchFamily="2" charset="0"/>
                </a:endParaRPr>
              </a:p>
            </p:txBody>
          </p:sp>
        </mc:Choice>
        <mc:Fallback>
          <p:sp>
            <p:nvSpPr>
              <p:cNvPr id="24" name="TextBox 23">
                <a:extLst>
                  <a:ext uri="{FF2B5EF4-FFF2-40B4-BE49-F238E27FC236}">
                    <a16:creationId xmlns:a16="http://schemas.microsoft.com/office/drawing/2014/main" id="{C228FA38-5F17-D49C-BEF5-DDCFC5310ACB}"/>
                  </a:ext>
                </a:extLst>
              </p:cNvPr>
              <p:cNvSpPr txBox="1">
                <a:spLocks noRot="1" noChangeAspect="1" noMove="1" noResize="1" noEditPoints="1" noAdjustHandles="1" noChangeArrowheads="1" noChangeShapeType="1" noTextEdit="1"/>
              </p:cNvSpPr>
              <p:nvPr/>
            </p:nvSpPr>
            <p:spPr>
              <a:xfrm>
                <a:off x="9262151" y="10900182"/>
                <a:ext cx="10340369" cy="2462213"/>
              </a:xfrm>
              <a:prstGeom prst="rect">
                <a:avLst/>
              </a:prstGeom>
              <a:blipFill>
                <a:blip r:embed="rId10"/>
                <a:stretch>
                  <a:fillRect l="-766" t="-1733" r="-354" b="-4208"/>
                </a:stretch>
              </a:blipFill>
            </p:spPr>
            <p:txBody>
              <a:bodyPr/>
              <a:lstStyle/>
              <a:p>
                <a:r>
                  <a:rPr lang="en-GB">
                    <a:noFill/>
                  </a:rPr>
                  <a:t> </a:t>
                </a:r>
              </a:p>
            </p:txBody>
          </p:sp>
        </mc:Fallback>
      </mc:AlternateContent>
      <p:sp>
        <p:nvSpPr>
          <p:cNvPr id="27" name="TextBox 26">
            <a:extLst>
              <a:ext uri="{FF2B5EF4-FFF2-40B4-BE49-F238E27FC236}">
                <a16:creationId xmlns:a16="http://schemas.microsoft.com/office/drawing/2014/main" id="{3F74E607-E647-B7FA-3774-ED63903EEA41}"/>
              </a:ext>
            </a:extLst>
          </p:cNvPr>
          <p:cNvSpPr txBox="1"/>
          <p:nvPr/>
        </p:nvSpPr>
        <p:spPr>
          <a:xfrm>
            <a:off x="9275954" y="5072281"/>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SOFTWARE VERIFICATION</a:t>
            </a:r>
          </a:p>
        </p:txBody>
      </p:sp>
      <p:sp>
        <p:nvSpPr>
          <p:cNvPr id="29" name="TextBox 28">
            <a:extLst>
              <a:ext uri="{FF2B5EF4-FFF2-40B4-BE49-F238E27FC236}">
                <a16:creationId xmlns:a16="http://schemas.microsoft.com/office/drawing/2014/main" id="{75C4A1F9-AF56-5A63-C952-C63A316672FE}"/>
              </a:ext>
            </a:extLst>
          </p:cNvPr>
          <p:cNvSpPr txBox="1"/>
          <p:nvPr/>
        </p:nvSpPr>
        <p:spPr>
          <a:xfrm>
            <a:off x="9284390" y="7630630"/>
            <a:ext cx="8707120"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MODEL VALIDATION</a:t>
            </a:r>
          </a:p>
        </p:txBody>
      </p:sp>
      <p:sp>
        <p:nvSpPr>
          <p:cNvPr id="32" name="TextBox 31">
            <a:extLst>
              <a:ext uri="{FF2B5EF4-FFF2-40B4-BE49-F238E27FC236}">
                <a16:creationId xmlns:a16="http://schemas.microsoft.com/office/drawing/2014/main" id="{14DCA57F-A372-6B47-4E9E-E795AF7EEBDA}"/>
              </a:ext>
            </a:extLst>
          </p:cNvPr>
          <p:cNvSpPr txBox="1"/>
          <p:nvPr/>
        </p:nvSpPr>
        <p:spPr>
          <a:xfrm>
            <a:off x="9251743" y="10517820"/>
            <a:ext cx="5890229" cy="461665"/>
          </a:xfrm>
          <a:prstGeom prst="rect">
            <a:avLst/>
          </a:prstGeom>
          <a:noFill/>
        </p:spPr>
        <p:txBody>
          <a:bodyPr wrap="square" rtlCol="0">
            <a:spAutoFit/>
          </a:bodyPr>
          <a:lstStyle/>
          <a:p>
            <a:r>
              <a:rPr lang="en-US" sz="2400" dirty="0">
                <a:solidFill>
                  <a:schemeClr val="accent1"/>
                </a:solidFill>
                <a:latin typeface="Roboto" panose="02000000000000000000" pitchFamily="2" charset="0"/>
                <a:ea typeface="Roboto" panose="02000000000000000000" pitchFamily="2" charset="0"/>
              </a:rPr>
              <a:t>SENSITIVITY ANALYSIS</a:t>
            </a:r>
          </a:p>
        </p:txBody>
      </p:sp>
      <p:pic>
        <p:nvPicPr>
          <p:cNvPr id="34" name="Picture 33">
            <a:extLst>
              <a:ext uri="{FF2B5EF4-FFF2-40B4-BE49-F238E27FC236}">
                <a16:creationId xmlns:a16="http://schemas.microsoft.com/office/drawing/2014/main" id="{9445AC05-B1D9-B360-9AD3-70196D80CCFD}"/>
              </a:ext>
            </a:extLst>
          </p:cNvPr>
          <p:cNvPicPr>
            <a:picLocks noChangeAspect="1"/>
          </p:cNvPicPr>
          <p:nvPr/>
        </p:nvPicPr>
        <p:blipFill>
          <a:blip r:embed="rId11"/>
          <a:srcRect l="739" t="4068" r="1053" b="2094"/>
          <a:stretch>
            <a:fillRect/>
          </a:stretch>
        </p:blipFill>
        <p:spPr>
          <a:xfrm>
            <a:off x="9292606" y="14092051"/>
            <a:ext cx="11662061" cy="6272747"/>
          </a:xfrm>
          <a:prstGeom prst="rect">
            <a:avLst/>
          </a:prstGeom>
        </p:spPr>
      </p:pic>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D29EF385-CDF0-4616-C732-243DF99D67F6}"/>
                  </a:ext>
                </a:extLst>
              </p:cNvPr>
              <p:cNvSpPr txBox="1"/>
              <p:nvPr/>
            </p:nvSpPr>
            <p:spPr>
              <a:xfrm>
                <a:off x="262061" y="9490040"/>
                <a:ext cx="8546387" cy="5837560"/>
              </a:xfrm>
              <a:prstGeom prst="rect">
                <a:avLst/>
              </a:prstGeom>
              <a:noFill/>
            </p:spPr>
            <p:txBody>
              <a:bodyPr wrap="square">
                <a:spAutoFit/>
              </a:bodyPr>
              <a:lstStyle/>
              <a:p>
                <a:pPr>
                  <a:lnSpc>
                    <a:spcPct val="105000"/>
                  </a:lnSpc>
                  <a:spcAft>
                    <a:spcPts val="500"/>
                  </a:spcAft>
                </a:pP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𝐿</m:t>
                        </m:r>
                      </m:e>
                      <m:sub>
                        <m:r>
                          <a:rPr lang="en-GB" sz="2200" b="0" i="1" smtClean="0">
                            <a:solidFill>
                              <a:srgbClr val="2D343C"/>
                            </a:solidFill>
                            <a:latin typeface="Cambria Math" panose="02040503050406030204" pitchFamily="18" charset="0"/>
                          </a:rPr>
                          <m:t>𝑑</m:t>
                        </m:r>
                      </m:sub>
                    </m:sSub>
                    <m:d>
                      <m:dPr>
                        <m:ctrlPr>
                          <a:rPr lang="en-GB" sz="2200" b="0" i="1" smtClean="0">
                            <a:solidFill>
                              <a:srgbClr val="2D343C"/>
                            </a:solidFill>
                            <a:latin typeface="Cambria Math" panose="02040503050406030204" pitchFamily="18" charset="0"/>
                          </a:rPr>
                        </m:ctrlPr>
                      </m:dPr>
                      <m:e>
                        <m:r>
                          <a:rPr lang="en-GB" sz="2200" b="0" i="1" smtClean="0">
                            <a:solidFill>
                              <a:srgbClr val="2D343C"/>
                            </a:solidFill>
                            <a:latin typeface="Cambria Math" panose="02040503050406030204" pitchFamily="18" charset="0"/>
                          </a:rPr>
                          <m:t>𝑖</m:t>
                        </m:r>
                      </m:e>
                    </m:d>
                  </m:oMath>
                </a14:m>
                <a:r>
                  <a:rPr lang="en-GB" sz="2200" dirty="0">
                    <a:solidFill>
                      <a:srgbClr val="2D343C"/>
                    </a:solidFill>
                  </a:rPr>
                  <a:t> - Predicted lap time for driver </a:t>
                </a:r>
                <a:r>
                  <a:rPr lang="en-GB" sz="2200" i="1" dirty="0">
                    <a:solidFill>
                      <a:srgbClr val="2D343C"/>
                    </a:solidFill>
                  </a:rPr>
                  <a:t>d</a:t>
                </a:r>
                <a:r>
                  <a:rPr lang="en-GB" sz="2200" dirty="0">
                    <a:solidFill>
                      <a:srgbClr val="2D343C"/>
                    </a:solidFill>
                  </a:rPr>
                  <a:t> on lap </a:t>
                </a:r>
                <a:r>
                  <a:rPr lang="en-GB" sz="2200" i="1" dirty="0">
                    <a:solidFill>
                      <a:srgbClr val="2D343C"/>
                    </a:solidFill>
                  </a:rPr>
                  <a:t>i</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𝐵</m:t>
                        </m:r>
                      </m:e>
                      <m:sub>
                        <m:r>
                          <a:rPr lang="en-GB" sz="2200" b="0" i="1" smtClean="0">
                            <a:solidFill>
                              <a:srgbClr val="2D343C"/>
                            </a:solidFill>
                            <a:latin typeface="Cambria Math" panose="02040503050406030204" pitchFamily="18" charset="0"/>
                          </a:rPr>
                          <m:t>𝑑</m:t>
                        </m:r>
                      </m:sub>
                    </m:sSub>
                  </m:oMath>
                </a14:m>
                <a:r>
                  <a:rPr lang="en-GB" sz="2200" dirty="0">
                    <a:solidFill>
                      <a:srgbClr val="2D343C"/>
                    </a:solidFill>
                  </a:rPr>
                  <a:t> - Baseline lap time for driver </a:t>
                </a:r>
                <a:r>
                  <a:rPr lang="en-GB" sz="2200" i="1" dirty="0">
                    <a:solidFill>
                      <a:srgbClr val="2D343C"/>
                    </a:solidFill>
                  </a:rPr>
                  <a:t>d</a:t>
                </a:r>
                <a:r>
                  <a:rPr lang="en-GB" sz="2200" dirty="0">
                    <a:solidFill>
                      <a:srgbClr val="2D343C"/>
                    </a:solidFill>
                  </a:rPr>
                  <a:t>, calculated from the reference lap time and driver/car pace offset.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𝐶</m:t>
                        </m:r>
                      </m:e>
                      <m:sub>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𝑐</m:t>
                            </m:r>
                          </m:e>
                          <m:sub>
                            <m:r>
                              <a:rPr lang="en-GB" sz="2200" b="0" i="1" smtClean="0">
                                <a:solidFill>
                                  <a:srgbClr val="2D343C"/>
                                </a:solidFill>
                                <a:latin typeface="Cambria Math" panose="02040503050406030204" pitchFamily="18" charset="0"/>
                              </a:rPr>
                              <m:t>𝑑</m:t>
                            </m:r>
                          </m:sub>
                        </m:sSub>
                        <m:r>
                          <a:rPr lang="en-GB" sz="2200" b="0" i="1" smtClean="0">
                            <a:solidFill>
                              <a:srgbClr val="2D343C"/>
                            </a:solidFill>
                            <a:latin typeface="Cambria Math" panose="02040503050406030204" pitchFamily="18" charset="0"/>
                          </a:rPr>
                          <m:t>(</m:t>
                        </m:r>
                        <m:r>
                          <a:rPr lang="en-GB" sz="2200" b="0" i="1" smtClean="0">
                            <a:solidFill>
                              <a:srgbClr val="2D343C"/>
                            </a:solidFill>
                            <a:latin typeface="Cambria Math" panose="02040503050406030204" pitchFamily="18" charset="0"/>
                          </a:rPr>
                          <m:t>𝑖</m:t>
                        </m:r>
                        <m:r>
                          <a:rPr lang="en-GB" sz="2200" b="0" i="1" smtClean="0">
                            <a:solidFill>
                              <a:srgbClr val="2D343C"/>
                            </a:solidFill>
                            <a:latin typeface="Cambria Math" panose="02040503050406030204" pitchFamily="18" charset="0"/>
                          </a:rPr>
                          <m:t>)</m:t>
                        </m:r>
                      </m:sub>
                    </m:sSub>
                  </m:oMath>
                </a14:m>
                <a:r>
                  <a:rPr lang="en-GB" sz="2200" dirty="0">
                    <a:solidFill>
                      <a:srgbClr val="2D343C"/>
                    </a:solidFill>
                  </a:rPr>
                  <a:t> - Lap time offset for compound </a:t>
                </a:r>
                <a:r>
                  <a:rPr lang="en-GB" sz="2200" i="1" dirty="0">
                    <a:solidFill>
                      <a:srgbClr val="2D343C"/>
                    </a:solidFill>
                  </a:rPr>
                  <a:t>c </a:t>
                </a:r>
                <a:r>
                  <a:rPr lang="en-GB" sz="2200" dirty="0">
                    <a:solidFill>
                      <a:srgbClr val="2D343C"/>
                    </a:solidFill>
                  </a:rPr>
                  <a:t>fitted to driver </a:t>
                </a:r>
                <a:r>
                  <a:rPr lang="en-GB" sz="2200" i="1" dirty="0">
                    <a:solidFill>
                      <a:srgbClr val="2D343C"/>
                    </a:solidFill>
                  </a:rPr>
                  <a:t>d </a:t>
                </a:r>
                <a:r>
                  <a:rPr lang="en-GB" sz="2200" dirty="0">
                    <a:solidFill>
                      <a:srgbClr val="2D343C"/>
                    </a:solidFill>
                  </a:rPr>
                  <a:t>on lap </a:t>
                </a:r>
                <a:r>
                  <a:rPr lang="en-GB" sz="2200" i="1" dirty="0">
                    <a:solidFill>
                      <a:srgbClr val="2D343C"/>
                    </a:solidFill>
                  </a:rPr>
                  <a:t>i</a:t>
                </a:r>
                <a:r>
                  <a:rPr lang="en-GB" sz="2200" dirty="0">
                    <a:solidFill>
                      <a:srgbClr val="2D343C"/>
                    </a:solidFill>
                  </a:rPr>
                  <a: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𝐷</m:t>
                        </m:r>
                      </m:e>
                      <m:sub>
                        <m:sSub>
                          <m:sSubPr>
                            <m:ctrlPr>
                              <a:rPr lang="en-GB" sz="2200" i="1">
                                <a:solidFill>
                                  <a:srgbClr val="2D343C"/>
                                </a:solidFill>
                                <a:latin typeface="Cambria Math" panose="02040503050406030204" pitchFamily="18" charset="0"/>
                              </a:rPr>
                            </m:ctrlPr>
                          </m:sSubPr>
                          <m:e>
                            <m:r>
                              <a:rPr lang="en-GB" sz="2200" i="1">
                                <a:solidFill>
                                  <a:srgbClr val="2D343C"/>
                                </a:solidFill>
                                <a:latin typeface="Cambria Math" panose="02040503050406030204" pitchFamily="18" charset="0"/>
                              </a:rPr>
                              <m:t>𝑐</m:t>
                            </m:r>
                          </m:e>
                          <m:sub>
                            <m:r>
                              <a:rPr lang="en-GB" sz="2200" i="1">
                                <a:solidFill>
                                  <a:srgbClr val="2D343C"/>
                                </a:solidFill>
                                <a:latin typeface="Cambria Math" panose="02040503050406030204" pitchFamily="18" charset="0"/>
                              </a:rPr>
                              <m:t>𝑑</m:t>
                            </m:r>
                          </m:sub>
                        </m:sSub>
                        <m:r>
                          <a:rPr lang="en-GB" sz="2200" i="1">
                            <a:solidFill>
                              <a:srgbClr val="2D343C"/>
                            </a:solidFill>
                            <a:latin typeface="Cambria Math" panose="02040503050406030204" pitchFamily="18" charset="0"/>
                          </a:rPr>
                          <m:t>(</m:t>
                        </m:r>
                        <m:r>
                          <a:rPr lang="en-GB" sz="2200" i="1">
                            <a:solidFill>
                              <a:srgbClr val="2D343C"/>
                            </a:solidFill>
                            <a:latin typeface="Cambria Math" panose="02040503050406030204" pitchFamily="18" charset="0"/>
                          </a:rPr>
                          <m:t>𝑖</m:t>
                        </m:r>
                        <m:r>
                          <a:rPr lang="en-GB" sz="2200" i="1">
                            <a:solidFill>
                              <a:srgbClr val="2D343C"/>
                            </a:solidFill>
                            <a:latin typeface="Cambria Math" panose="02040503050406030204" pitchFamily="18" charset="0"/>
                          </a:rPr>
                          <m:t>)</m:t>
                        </m:r>
                      </m:sub>
                    </m:sSub>
                  </m:oMath>
                </a14:m>
                <a:r>
                  <a:rPr lang="en-GB" sz="2200" dirty="0">
                    <a:solidFill>
                      <a:srgbClr val="2D343C"/>
                    </a:solidFill>
                  </a:rPr>
                  <a:t> - Lap time loss due to degradation of the fitted tyre compound.</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𝑎</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Tyre age for driver </a:t>
                </a:r>
                <a:r>
                  <a:rPr lang="en-GB" sz="2200" i="1" dirty="0">
                    <a:solidFill>
                      <a:srgbClr val="2D343C"/>
                    </a:solidFill>
                  </a:rPr>
                  <a:t>d</a:t>
                </a:r>
                <a:r>
                  <a:rPr lang="en-GB" sz="2200" dirty="0">
                    <a:solidFill>
                      <a:srgbClr val="2D343C"/>
                    </a:solidFill>
                  </a:rPr>
                  <a:t> on lap </a:t>
                </a:r>
                <a:r>
                  <a:rPr lang="en-GB" sz="2200" i="1" dirty="0">
                    <a:solidFill>
                      <a:srgbClr val="2D343C"/>
                    </a:solidFill>
                  </a:rPr>
                  <a:t>i</a:t>
                </a:r>
                <a:r>
                  <a:rPr lang="en-GB" sz="2200" dirty="0">
                    <a:solidFill>
                      <a:srgbClr val="2D343C"/>
                    </a:solidFill>
                  </a:rPr>
                  <a:t>.</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𝑊</m:t>
                        </m:r>
                      </m:e>
                      <m:sub>
                        <m:r>
                          <a:rPr lang="en-GB" sz="2200" b="0" i="1" smtClean="0">
                            <a:solidFill>
                              <a:srgbClr val="2D343C"/>
                            </a:solidFill>
                            <a:latin typeface="Cambria Math" panose="02040503050406030204" pitchFamily="18" charset="0"/>
                          </a:rPr>
                          <m:t>𝑐</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for compound </a:t>
                </a:r>
                <a:r>
                  <a:rPr lang="en-GB" sz="2200" i="1" dirty="0">
                    <a:solidFill>
                      <a:srgbClr val="2D343C"/>
                    </a:solidFill>
                  </a:rPr>
                  <a:t>c</a:t>
                </a:r>
                <a:r>
                  <a:rPr lang="en-GB" sz="2200" dirty="0">
                    <a:solidFill>
                      <a:srgbClr val="2D343C"/>
                    </a:solidFill>
                  </a:rPr>
                  <a:t> from tyre warm-up applied following a tyre change.</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𝑅</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to model traffic interaction.</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𝑄</m:t>
                        </m:r>
                      </m:e>
                      <m:sub>
                        <m:r>
                          <a:rPr lang="en-GB" sz="2200" i="1">
                            <a:solidFill>
                              <a:srgbClr val="2D343C"/>
                            </a:solidFill>
                            <a:latin typeface="Cambria Math" panose="02040503050406030204" pitchFamily="18" charset="0"/>
                          </a:rPr>
                          <m:t>𝑑</m:t>
                        </m:r>
                      </m:sub>
                    </m:sSub>
                    <m:d>
                      <m:dPr>
                        <m:ctrlPr>
                          <a:rPr lang="en-GB" sz="2200" i="1">
                            <a:solidFill>
                              <a:srgbClr val="2D343C"/>
                            </a:solidFill>
                            <a:latin typeface="Cambria Math" panose="02040503050406030204" pitchFamily="18" charset="0"/>
                          </a:rPr>
                        </m:ctrlPr>
                      </m:dPr>
                      <m:e>
                        <m:r>
                          <a:rPr lang="en-GB" sz="2200" i="1">
                            <a:solidFill>
                              <a:srgbClr val="2D343C"/>
                            </a:solidFill>
                            <a:latin typeface="Cambria Math" panose="02040503050406030204" pitchFamily="18" charset="0"/>
                          </a:rPr>
                          <m:t>𝑖</m:t>
                        </m:r>
                      </m:e>
                    </m:d>
                  </m:oMath>
                </a14:m>
                <a:r>
                  <a:rPr lang="en-GB" sz="2200" dirty="0">
                    <a:solidFill>
                      <a:srgbClr val="2D343C"/>
                    </a:solidFill>
                  </a:rPr>
                  <a:t> - Configurable lap time penalty to represent pit stop loss.</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𝑇</m:t>
                        </m:r>
                      </m:e>
                      <m:sub>
                        <m:r>
                          <a:rPr lang="en-GB" sz="2200" b="0" i="1" smtClean="0">
                            <a:solidFill>
                              <a:srgbClr val="2D343C"/>
                            </a:solidFill>
                            <a:latin typeface="Cambria Math" panose="02040503050406030204" pitchFamily="18" charset="0"/>
                          </a:rPr>
                          <m:t>𝑑</m:t>
                        </m:r>
                      </m:sub>
                    </m:sSub>
                    <m:d>
                      <m:dPr>
                        <m:ctrlPr>
                          <a:rPr lang="en-GB" sz="2200" b="0" i="1" smtClean="0">
                            <a:solidFill>
                              <a:srgbClr val="2D343C"/>
                            </a:solidFill>
                            <a:latin typeface="Cambria Math" panose="02040503050406030204" pitchFamily="18" charset="0"/>
                          </a:rPr>
                        </m:ctrlPr>
                      </m:dPr>
                      <m:e>
                        <m:r>
                          <a:rPr lang="en-GB" sz="2200" b="0" i="1" smtClean="0">
                            <a:solidFill>
                              <a:srgbClr val="2D343C"/>
                            </a:solidFill>
                            <a:latin typeface="Cambria Math" panose="02040503050406030204" pitchFamily="18" charset="0"/>
                          </a:rPr>
                          <m:t>𝑚</m:t>
                        </m:r>
                      </m:e>
                    </m:d>
                  </m:oMath>
                </a14:m>
                <a:r>
                  <a:rPr lang="en-GB" sz="2200" dirty="0">
                    <a:solidFill>
                      <a:srgbClr val="2D343C"/>
                    </a:solidFill>
                  </a:rPr>
                  <a:t> - Cumulative predicted time of attacking (𝑎𝑡𝑡) and target (𝑡𝑔𝑡) driver after </a:t>
                </a:r>
                <a:r>
                  <a:rPr lang="en-GB" sz="2200" i="1" dirty="0">
                    <a:solidFill>
                      <a:srgbClr val="2D343C"/>
                    </a:solidFill>
                  </a:rPr>
                  <a:t>m</a:t>
                </a:r>
                <a:r>
                  <a:rPr lang="en-GB" sz="2200" dirty="0">
                    <a:solidFill>
                      <a:srgbClr val="2D343C"/>
                    </a:solidFill>
                  </a:rPr>
                  <a:t> predicted laps.</a:t>
                </a:r>
                <a:br>
                  <a:rPr lang="en-GB" sz="2200" dirty="0">
                    <a:solidFill>
                      <a:srgbClr val="2D343C"/>
                    </a:solidFill>
                  </a:rPr>
                </a:br>
                <a14:m>
                  <m:oMath xmlns:m="http://schemas.openxmlformats.org/officeDocument/2006/math">
                    <m:sSub>
                      <m:sSubPr>
                        <m:ctrlPr>
                          <a:rPr lang="en-GB" sz="2200" b="0" i="1" smtClean="0">
                            <a:solidFill>
                              <a:srgbClr val="2D343C"/>
                            </a:solidFill>
                            <a:latin typeface="Cambria Math" panose="02040503050406030204" pitchFamily="18" charset="0"/>
                          </a:rPr>
                        </m:ctrlPr>
                      </m:sSubPr>
                      <m:e>
                        <m:r>
                          <a:rPr lang="en-GB" sz="2200" b="0" i="1" smtClean="0">
                            <a:solidFill>
                              <a:srgbClr val="2D343C"/>
                            </a:solidFill>
                            <a:latin typeface="Cambria Math" panose="02040503050406030204" pitchFamily="18" charset="0"/>
                          </a:rPr>
                          <m:t>𝐺</m:t>
                        </m:r>
                      </m:e>
                      <m:sub>
                        <m:r>
                          <a:rPr lang="en-GB" sz="2200" b="0" i="1" smtClean="0">
                            <a:solidFill>
                              <a:srgbClr val="2D343C"/>
                            </a:solidFill>
                            <a:latin typeface="Cambria Math" panose="02040503050406030204" pitchFamily="18" charset="0"/>
                          </a:rPr>
                          <m:t>0</m:t>
                        </m:r>
                      </m:sub>
                    </m:sSub>
                  </m:oMath>
                </a14:m>
                <a:r>
                  <a:rPr lang="en-GB" sz="2200" dirty="0">
                    <a:solidFill>
                      <a:srgbClr val="2D343C"/>
                    </a:solidFill>
                  </a:rPr>
                  <a:t>​ – Initial attacker-to-target gap at the decision point.</a:t>
                </a:r>
                <a:br>
                  <a:rPr lang="en-GB" sz="2200" dirty="0">
                    <a:solidFill>
                      <a:srgbClr val="2D343C"/>
                    </a:solidFill>
                  </a:rPr>
                </a:br>
                <a:br>
                  <a:rPr lang="en-GB" sz="2200" dirty="0">
                    <a:solidFill>
                      <a:srgbClr val="2D343C"/>
                    </a:solidFill>
                  </a:rPr>
                </a:br>
                <a14:m>
                  <m:oMath xmlns:m="http://schemas.openxmlformats.org/officeDocument/2006/math">
                    <m:r>
                      <a:rPr lang="en-GB" sz="2200" b="0" i="1" smtClean="0">
                        <a:solidFill>
                          <a:srgbClr val="2D343C"/>
                        </a:solidFill>
                        <a:latin typeface="Cambria Math" panose="02040503050406030204" pitchFamily="18" charset="0"/>
                      </a:rPr>
                      <m:t>+</m:t>
                    </m:r>
                    <m:r>
                      <a:rPr lang="en-GB" sz="2200" b="0" i="1" smtClean="0">
                        <a:solidFill>
                          <a:srgbClr val="2D343C"/>
                        </a:solidFill>
                        <a:latin typeface="Cambria Math" panose="02040503050406030204" pitchFamily="18" charset="0"/>
                      </a:rPr>
                      <m:t>𝑣𝑒</m:t>
                    </m:r>
                    <m:r>
                      <a:rPr lang="en-GB" sz="2200" b="0" i="1" smtClean="0">
                        <a:solidFill>
                          <a:srgbClr val="2D343C"/>
                        </a:solidFill>
                        <a:latin typeface="Cambria Math" panose="02040503050406030204" pitchFamily="18" charset="0"/>
                      </a:rPr>
                      <m:t> </m:t>
                    </m:r>
                    <m:r>
                      <a:rPr lang="en-GB" sz="2200" b="0" i="1" smtClean="0">
                        <a:solidFill>
                          <a:srgbClr val="2D343C"/>
                        </a:solidFill>
                        <a:latin typeface="Cambria Math" panose="02040503050406030204" pitchFamily="18" charset="0"/>
                      </a:rPr>
                      <m:t>𝐺</m:t>
                    </m:r>
                  </m:oMath>
                </a14:m>
                <a:r>
                  <a:rPr lang="en-GB" sz="2200" dirty="0">
                    <a:solidFill>
                      <a:srgbClr val="2D343C"/>
                    </a:solidFill>
                  </a:rPr>
                  <a:t> = attacker behind. </a:t>
                </a:r>
                <a14:m>
                  <m:oMath xmlns:m="http://schemas.openxmlformats.org/officeDocument/2006/math">
                    <m:r>
                      <a:rPr lang="en-GB" sz="2200" i="1" smtClean="0">
                        <a:solidFill>
                          <a:srgbClr val="2D343C"/>
                        </a:solidFill>
                        <a:latin typeface="Cambria Math" panose="02040503050406030204" pitchFamily="18" charset="0"/>
                        <a:ea typeface="Cambria Math" panose="02040503050406030204" pitchFamily="18" charset="0"/>
                      </a:rPr>
                      <m:t>∆</m:t>
                    </m:r>
                    <m:r>
                      <a:rPr lang="en-GB" sz="2200" b="0" i="1" smtClean="0">
                        <a:solidFill>
                          <a:srgbClr val="2D343C"/>
                        </a:solidFill>
                        <a:latin typeface="Cambria Math" panose="02040503050406030204" pitchFamily="18" charset="0"/>
                        <a:ea typeface="Cambria Math" panose="02040503050406030204" pitchFamily="18" charset="0"/>
                      </a:rPr>
                      <m:t>𝐺</m:t>
                    </m:r>
                  </m:oMath>
                </a14:m>
                <a:r>
                  <a:rPr lang="en-GB" sz="2200" dirty="0">
                    <a:solidFill>
                      <a:srgbClr val="2D343C"/>
                    </a:solidFill>
                  </a:rPr>
                  <a:t> isolates the time generated by the undercut from whether it changes track position.</a:t>
                </a:r>
              </a:p>
            </p:txBody>
          </p:sp>
        </mc:Choice>
        <mc:Fallback>
          <p:sp>
            <p:nvSpPr>
              <p:cNvPr id="65" name="TextBox 64">
                <a:extLst>
                  <a:ext uri="{FF2B5EF4-FFF2-40B4-BE49-F238E27FC236}">
                    <a16:creationId xmlns:a16="http://schemas.microsoft.com/office/drawing/2014/main" id="{D29EF385-CDF0-4616-C732-243DF99D67F6}"/>
                  </a:ext>
                </a:extLst>
              </p:cNvPr>
              <p:cNvSpPr txBox="1">
                <a:spLocks noRot="1" noChangeAspect="1" noMove="1" noResize="1" noEditPoints="1" noAdjustHandles="1" noChangeArrowheads="1" noChangeShapeType="1" noTextEdit="1"/>
              </p:cNvSpPr>
              <p:nvPr/>
            </p:nvSpPr>
            <p:spPr>
              <a:xfrm>
                <a:off x="262061" y="9490040"/>
                <a:ext cx="8546387" cy="5837560"/>
              </a:xfrm>
              <a:prstGeom prst="rect">
                <a:avLst/>
              </a:prstGeom>
              <a:blipFill>
                <a:blip r:embed="rId12"/>
                <a:stretch>
                  <a:fillRect l="-927" t="-627" r="-713" b="-1254"/>
                </a:stretch>
              </a:blipFill>
            </p:spPr>
            <p:txBody>
              <a:bodyPr/>
              <a:lstStyle/>
              <a:p>
                <a:r>
                  <a:rPr lang="en-GB">
                    <a:noFill/>
                  </a:rPr>
                  <a:t> </a:t>
                </a:r>
              </a:p>
            </p:txBody>
          </p:sp>
        </mc:Fallback>
      </mc:AlternateContent>
      <p:sp>
        <p:nvSpPr>
          <p:cNvPr id="68" name="TextBox 67">
            <a:extLst>
              <a:ext uri="{FF2B5EF4-FFF2-40B4-BE49-F238E27FC236}">
                <a16:creationId xmlns:a16="http://schemas.microsoft.com/office/drawing/2014/main" id="{ADE21E08-5183-975F-5D3C-06D276A096A6}"/>
              </a:ext>
            </a:extLst>
          </p:cNvPr>
          <p:cNvSpPr txBox="1"/>
          <p:nvPr/>
        </p:nvSpPr>
        <p:spPr>
          <a:xfrm>
            <a:off x="19778308" y="6227537"/>
            <a:ext cx="10156539" cy="461665"/>
          </a:xfrm>
          <a:prstGeom prst="rect">
            <a:avLst/>
          </a:prstGeom>
          <a:noFill/>
        </p:spPr>
        <p:txBody>
          <a:bodyPr wrap="square" rtlCol="0">
            <a:spAutoFit/>
          </a:bodyPr>
          <a:lstStyle/>
          <a:p>
            <a:pPr algn="ctr"/>
            <a:r>
              <a:rPr lang="en-US" sz="2400" dirty="0">
                <a:solidFill>
                  <a:schemeClr val="accent1"/>
                </a:solidFill>
                <a:latin typeface="Roboto" panose="02000000000000000000" pitchFamily="2" charset="0"/>
                <a:ea typeface="Roboto" panose="02000000000000000000" pitchFamily="2" charset="0"/>
              </a:rPr>
              <a:t>Sensitivity Analysis – Compound Offset (Italy 2024)</a:t>
            </a:r>
          </a:p>
        </p:txBody>
      </p:sp>
      <p:sp>
        <p:nvSpPr>
          <p:cNvPr id="70" name="TextBox 69">
            <a:extLst>
              <a:ext uri="{FF2B5EF4-FFF2-40B4-BE49-F238E27FC236}">
                <a16:creationId xmlns:a16="http://schemas.microsoft.com/office/drawing/2014/main" id="{503AE60F-A6D2-015C-61A6-252E7270D387}"/>
              </a:ext>
            </a:extLst>
          </p:cNvPr>
          <p:cNvSpPr txBox="1"/>
          <p:nvPr/>
        </p:nvSpPr>
        <p:spPr>
          <a:xfrm>
            <a:off x="19773067" y="2607393"/>
            <a:ext cx="10156539" cy="461665"/>
          </a:xfrm>
          <a:prstGeom prst="rect">
            <a:avLst/>
          </a:prstGeom>
          <a:noFill/>
        </p:spPr>
        <p:txBody>
          <a:bodyPr wrap="square" rtlCol="0">
            <a:spAutoFit/>
          </a:bodyPr>
          <a:lstStyle/>
          <a:p>
            <a:pPr algn="ctr"/>
            <a:r>
              <a:rPr lang="en-US" sz="2400" dirty="0">
                <a:solidFill>
                  <a:schemeClr val="accent1"/>
                </a:solidFill>
                <a:latin typeface="Roboto" panose="02000000000000000000" pitchFamily="2" charset="0"/>
                <a:ea typeface="Roboto" panose="02000000000000000000" pitchFamily="2" charset="0"/>
              </a:rPr>
              <a:t>Historic Validation Cases</a:t>
            </a:r>
          </a:p>
        </p:txBody>
      </p:sp>
      <p:sp>
        <p:nvSpPr>
          <p:cNvPr id="77" name="Rectangle 76">
            <a:extLst>
              <a:ext uri="{FF2B5EF4-FFF2-40B4-BE49-F238E27FC236}">
                <a16:creationId xmlns:a16="http://schemas.microsoft.com/office/drawing/2014/main" id="{25356134-8616-6F2C-A305-B53CAEEFEC6B}"/>
              </a:ext>
            </a:extLst>
          </p:cNvPr>
          <p:cNvSpPr/>
          <p:nvPr/>
        </p:nvSpPr>
        <p:spPr>
          <a:xfrm>
            <a:off x="165719" y="20405321"/>
            <a:ext cx="20737657" cy="542214"/>
          </a:xfrm>
          <a:prstGeom prst="rect">
            <a:avLst/>
          </a:prstGeom>
          <a:solidFill>
            <a:schemeClr val="accent1">
              <a:alpha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GB" sz="1800" b="1" dirty="0">
                <a:solidFill>
                  <a:srgbClr val="2D343C"/>
                </a:solidFill>
              </a:rPr>
              <a:t>References: </a:t>
            </a:r>
            <a:r>
              <a:rPr lang="en-GB" sz="1800" dirty="0">
                <a:solidFill>
                  <a:srgbClr val="2D343C"/>
                </a:solidFill>
              </a:rPr>
              <a:t>[1] Formula 1, “Undercut vs Overcut: Why Tyre Strategy Was So Finely Poised in Monaco” 2021. [2] OpenF1 Contributors, “OpenF1,” 2024, </a:t>
            </a:r>
            <a:r>
              <a:rPr lang="en-GB" sz="1800" dirty="0" err="1">
                <a:solidFill>
                  <a:srgbClr val="2D343C"/>
                </a:solidFill>
              </a:rPr>
              <a:t>doi</a:t>
            </a:r>
            <a:r>
              <a:rPr lang="en-GB" sz="1800" dirty="0">
                <a:solidFill>
                  <a:srgbClr val="2D343C"/>
                </a:solidFill>
              </a:rPr>
              <a:t>: 10.5281/zenodo.11241279. [3] S. Razavi and H. V. Gupta, “What Do We Mean by Sensitivity Analysis?” Water </a:t>
            </a:r>
            <a:r>
              <a:rPr lang="en-GB" sz="1800" dirty="0" err="1">
                <a:solidFill>
                  <a:srgbClr val="2D343C"/>
                </a:solidFill>
              </a:rPr>
              <a:t>Resour</a:t>
            </a:r>
            <a:r>
              <a:rPr lang="en-GB" sz="1800" dirty="0">
                <a:solidFill>
                  <a:srgbClr val="2D343C"/>
                </a:solidFill>
              </a:rPr>
              <a:t>. Res., vol. 51, no. 5, pp. 3070–3092, 2015.</a:t>
            </a:r>
            <a:endParaRPr lang="en-US" sz="1800" dirty="0">
              <a:solidFill>
                <a:srgbClr val="2D343C"/>
              </a:solidFill>
            </a:endParaRPr>
          </a:p>
        </p:txBody>
      </p:sp>
    </p:spTree>
    <p:extLst>
      <p:ext uri="{BB962C8B-B14F-4D97-AF65-F5344CB8AC3E}">
        <p14:creationId xmlns:p14="http://schemas.microsoft.com/office/powerpoint/2010/main" val="38692117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476</TotalTime>
  <Words>1166</Words>
  <Application>Microsoft Office PowerPoint</Application>
  <PresentationFormat>Custom</PresentationFormat>
  <Paragraphs>58</Paragraphs>
  <Slides>1</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vt:i4>
      </vt:variant>
    </vt:vector>
  </HeadingPairs>
  <TitlesOfParts>
    <vt:vector size="8" baseType="lpstr">
      <vt:lpstr>Aptos</vt:lpstr>
      <vt:lpstr>Aptos Display</vt:lpstr>
      <vt:lpstr>Aptos Narrow</vt:lpstr>
      <vt:lpstr>Arial</vt:lpstr>
      <vt:lpstr>Cambria Math</vt:lpstr>
      <vt:lpstr>Roboto</vt:lpstr>
      <vt:lpstr>Office Theme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Sean Wu</dc:creator>
  <cp:lastModifiedBy>Adams, Harry</cp:lastModifiedBy>
  <cp:revision>41</cp:revision>
  <dcterms:created xsi:type="dcterms:W3CDTF">2024-07-08T07:49:34Z</dcterms:created>
  <dcterms:modified xsi:type="dcterms:W3CDTF">2026-08-19T17:17:39Z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052e85c4-bae3-4de6-b411-a1490451a9c2_Enabled">
    <vt:lpwstr>true</vt:lpwstr>
  </property>
  <property fmtid="{D5CDD505-2E9C-101B-9397-08002B2CF9AE}" pid="3" name="MSIP_Label_052e85c4-bae3-4de6-b411-a1490451a9c2_SetDate">
    <vt:lpwstr>2026-08-19T10:16:37Z</vt:lpwstr>
  </property>
  <property fmtid="{D5CDD505-2E9C-101B-9397-08002B2CF9AE}" pid="4" name="MSIP_Label_052e85c4-bae3-4de6-b411-a1490451a9c2_Method">
    <vt:lpwstr>Standard</vt:lpwstr>
  </property>
  <property fmtid="{D5CDD505-2E9C-101B-9397-08002B2CF9AE}" pid="5" name="MSIP_Label_052e85c4-bae3-4de6-b411-a1490451a9c2_Name">
    <vt:lpwstr>Unrestricted</vt:lpwstr>
  </property>
  <property fmtid="{D5CDD505-2E9C-101B-9397-08002B2CF9AE}" pid="6" name="MSIP_Label_052e85c4-bae3-4de6-b411-a1490451a9c2_SiteId">
    <vt:lpwstr>26583ed4-9ffc-46c2-9d1a-f0ca35a30a8d</vt:lpwstr>
  </property>
  <property fmtid="{D5CDD505-2E9C-101B-9397-08002B2CF9AE}" pid="7" name="MSIP_Label_052e85c4-bae3-4de6-b411-a1490451a9c2_ActionId">
    <vt:lpwstr>9d61d6e5-d84d-48bb-9ab3-f8b67406af22</vt:lpwstr>
  </property>
  <property fmtid="{D5CDD505-2E9C-101B-9397-08002B2CF9AE}" pid="8" name="MSIP_Label_052e85c4-bae3-4de6-b411-a1490451a9c2_ContentBits">
    <vt:lpwstr>0</vt:lpwstr>
  </property>
  <property fmtid="{D5CDD505-2E9C-101B-9397-08002B2CF9AE}" pid="9" name="MSIP_Label_052e85c4-bae3-4de6-b411-a1490451a9c2_Tag">
    <vt:lpwstr>10, 3, 0, 1</vt:lpwstr>
  </property>
</Properties>
</file>